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Plataforma de Gestão Compartilhada de Recarga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4572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800">
                <a:solidFill>
                  <a:srgbClr val="B4B4B4"/>
                </a:solidFill>
              </a:defRPr>
            </a:pPr>
            <a:r>
              <a:t>Challenge FIAP + GoodWe 2026</a:t>
            </a: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Ciências da Computação - 1º Ano Online</a:t>
            </a:r>
          </a:p>
          <a:p>
            <a:pPr algn="ctr">
              <a:defRPr sz="1000">
                <a:solidFill>
                  <a:srgbClr val="B4B4B4"/>
                </a:solidFill>
              </a:defRPr>
            </a:pPr>
          </a:p>
          <a:p>
            <a:pPr algn="ctr">
              <a:defRPr sz="1800">
                <a:solidFill>
                  <a:srgbClr val="B4B4B4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 Problema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Crescimento de EVs em condomínios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O aumento acelerado de veículos elétricos exige regras claras, rateio justo e análise de consumo contínua.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Sem gestão = conflito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Quem paga pela energia? Como dividir o uso dos carregadores? Como evitar sobrecarga na rede elétrica?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Solução: EV ChargeOps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Transforma cada sessão de recarga em dados estruturados e inteligência acionável para gestão do condomínio.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Requisitos do Challenge (Online)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Transformar solução residencial em coletiva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9184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Estruturação de sessões de recarga</a:t>
            </a:r>
            <a:br/>
            <a:r>
              <a:t>por usuário ou unidade habitacional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9184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Processamento de consumo individual</a:t>
            </a:r>
            <a:br/>
            <a:r>
              <a:t>para cobrança automática da unidade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9184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Gerenciamento inteligente com</a:t>
            </a:r>
            <a:br/>
            <a:r>
              <a:t>interface usuário + gestão condomínio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Arquitetura Híbrida de 3 Camadas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103120"/>
            <a:ext cx="82296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DIGITAL</a:t>
            </a:r>
            <a:br/>
            <a:r>
              <a:t>Regras de Controle | Motor de IA |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474720"/>
            <a:ext cx="82296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DE CONECTIVIDADE</a:t>
            </a:r>
            <a:br/>
            <a:r>
              <a:t>Rede / Internet (LAN + Wi-Fi + OCPP)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846320"/>
            <a:ext cx="82296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CAMADA FÍSICA</a:t>
            </a:r>
            <a:br/>
            <a:r>
              <a:t>EV Charger GoodWe HCA G2 | MODBUS | RFID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Os 4 Pilares do EV ChargeOps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5603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Gestão de Uso</a:t>
            </a:r>
            <a:br/>
            <a:br/>
            <a:r>
              <a:t>Sessões por usuário/unidade</a:t>
            </a:r>
            <a:br/>
            <a:r>
              <a:t>Autenticação RFID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5603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Gerenciamento de Recarga</a:t>
            </a:r>
            <a:br/>
            <a:br/>
            <a:r>
              <a:t>Regras compartilhadas</a:t>
            </a:r>
            <a:br/>
            <a:r>
              <a:t>Horários otimizados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603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Rateio e Faturamento</a:t>
            </a:r>
            <a:br/>
            <a:br/>
            <a:r>
              <a:t>Consumo individual (kWh)</a:t>
            </a:r>
            <a:br/>
            <a:r>
              <a:t>Cobrança automática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286000"/>
            <a:ext cx="25603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Visualização e Interação</a:t>
            </a:r>
            <a:br/>
            <a:br/>
            <a:r>
              <a:t>Painéis gerenciais</a:t>
            </a:r>
            <a:br/>
            <a:r>
              <a:t>Insights para moradores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Motor de IA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como infraestrutura lógica - não uma feature extra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560320" cy="27432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Interpretação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Decodificação de eventos de sessão</a:t>
            </a:r>
            <a:br/>
            <a:r>
              <a:t>em tempo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286000"/>
            <a:ext cx="2560320" cy="27432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Preditividade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Previsão de demanda e</a:t>
            </a:r>
            <a:br/>
            <a:r>
              <a:t>necessidade de expansão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2286000"/>
            <a:ext cx="2560320" cy="2743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Precificação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Tarifa dinâmica baseada</a:t>
            </a:r>
            <a:br/>
            <a:r>
              <a:t>no horário (ANEEL)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2286000"/>
            <a:ext cx="2560320" cy="2743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Conversação</a:t>
            </a:r>
          </a:p>
          <a:p>
            <a:pPr algn="ctr">
              <a:spcBef>
                <a:spcPts val="1200"/>
              </a:spcBef>
              <a:defRPr sz="1300">
                <a:solidFill>
                  <a:srgbClr val="DCDCDC"/>
                </a:solidFill>
              </a:defRPr>
            </a:pPr>
            <a:r>
              <a:t>Síndico Virtual (NLP)</a:t>
            </a:r>
            <a:br/>
            <a:r>
              <a:t>Dados -&gt; orientações simples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Integrações do Ecossistema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GoodWe API (Simulada)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Dados operacionais dos carregadores HCA G2.</a:t>
            </a:r>
            <a:br/>
            <a:r>
              <a:t>OCPP 1.6J: Start/Stop Transaction, MeterValues.</a:t>
            </a:r>
            <a:br/>
            <a:r>
              <a:t>JSON: {"status":"active","power":"11kW"}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Open Charge Map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Mapa público de eletropostos.</a:t>
            </a:r>
            <a:br/>
            <a:r>
              <a:t>Busca pontos próximos por GPS.</a:t>
            </a:r>
            <a:br/>
            <a:r>
              <a:t>Cruzamento infraestrutura privada x pública.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Google Places API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Localização de pontos de recarga.</a:t>
            </a:r>
            <a:br/>
            <a:r>
              <a:t>Rating, fotos, horário de funcionamento.</a:t>
            </a:r>
            <a:br/>
            <a:r>
              <a:t>Alternativas quando carregadores ocupados.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103120"/>
            <a:ext cx="2651760" cy="384048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Síndico Virtual (NLP)</a:t>
            </a:r>
          </a:p>
          <a:p>
            <a:pPr>
              <a:spcBef>
                <a:spcPts val="1000"/>
              </a:spcBef>
              <a:defRPr sz="1200">
                <a:solidFill>
                  <a:srgbClr val="282828"/>
                </a:solidFill>
              </a:defRPr>
            </a:pPr>
            <a:r>
              <a:t>Agente conversacional inteligente.</a:t>
            </a:r>
            <a:br/>
            <a:r>
              <a:t>Traduz dados técnicos em linguagem simples.</a:t>
            </a:r>
            <a:br/>
            <a:r>
              <a:t>Consumo, faturas, horários, anomalias.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Precificação Dinâmica (ANEEL)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Tarifas calculadas automaticamente pelo Motor de 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Fora 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22h - 17h + Fins de semana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R$ 0,85/kWh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Tarifa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2926080" cy="32004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Intermediária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17h-18h e 21h-22h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R$ 1,02/kWh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286000"/>
            <a:ext cx="292608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</a:rPr>
              <a:t>Ponta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FFFFFF"/>
                </a:solidFill>
              </a:rPr>
              <a:t>18h-21h (dias úteis)</a:t>
            </a:r>
          </a:p>
          <a:p>
            <a:pPr algn="ctr">
              <a:spcBef>
                <a:spcPts val="800"/>
              </a:spcBef>
            </a:pPr>
            <a:r>
              <a:rPr sz="2800" b="1">
                <a:solidFill>
                  <a:srgbClr val="FFFFFF"/>
                </a:solidFill>
              </a:rPr>
              <a:t>R$ 1,28/kWh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FFFFFF"/>
                </a:solidFill>
              </a:rPr>
              <a:t>+50%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Diário de Energia (kWh)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di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Consumo por Unidade Habitacional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sumo_por_un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Sessões por Horário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hor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Distribuição de Custos por Tarifa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tribuicao_tari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Evolução Acumulada de Custos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Dados simulados - 30 dias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sto_acumul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9144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Resultados da Simulação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30 dias de operação simulada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175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Sessões de Recarga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286000"/>
            <a:ext cx="3200400" cy="1828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6280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Energia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286000"/>
            <a:ext cx="3200400" cy="182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R$ 5529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Custo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3200400" cy="182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35.9 kWh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Média/Sessão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572000"/>
            <a:ext cx="3200400" cy="182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8/8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Unidades Ativas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572000"/>
            <a:ext cx="3200400" cy="182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CRESCENTE</a:t>
            </a:r>
          </a:p>
          <a:p>
            <a:pPr algn="ctr">
              <a:defRPr sz="1400">
                <a:solidFill>
                  <a:srgbClr val="C8C8C8"/>
                </a:solidFill>
              </a:defRPr>
            </a:pPr>
            <a:r>
              <a:t>Tendência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Base Regulatória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Exploração Comercial Livre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Resolução Normativa 1.000/2021</a:t>
            </a:r>
            <a:br/>
            <a:br/>
            <a:r>
              <a:t>Recarga pública e comercial pode operar com</a:t>
            </a:r>
            <a:br/>
            <a:r>
              <a:t>preços livremente negociados. Viabiliza o</a:t>
            </a:r>
            <a:br/>
            <a:r>
              <a:t>modelo de tarifação dinâmica do EV ChargeOps.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4572000" cy="365760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1D3557"/>
                </a:solidFill>
              </a:rPr>
              <a:t>Interoperabilidade Obrigatória</a:t>
            </a:r>
          </a:p>
          <a:p>
            <a:pPr>
              <a:spcBef>
                <a:spcPts val="1000"/>
              </a:spcBef>
              <a:defRPr sz="1400">
                <a:solidFill>
                  <a:srgbClr val="282828"/>
                </a:solidFill>
              </a:defRPr>
            </a:pPr>
            <a:r>
              <a:t>ANEEL - Padrões Abertos</a:t>
            </a:r>
            <a:br/>
            <a:br/>
            <a:r>
              <a:t>Equipamentos de uso compartilhado devem</a:t>
            </a:r>
            <a:br/>
            <a:r>
              <a:t>usar protocolos abertos (OCPP) para</a:t>
            </a:r>
            <a:br/>
            <a:r>
              <a:t>controle remoto. Justifica a arquitetura OCPP.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Uso de IA no Contexto do Software</a:t>
            </a:r>
          </a:p>
          <a:p>
            <a:pPr>
              <a:spcBef>
                <a:spcPts val="800"/>
              </a:spcBef>
              <a:defRPr sz="1800">
                <a:solidFill>
                  <a:srgbClr val="646464"/>
                </a:solidFill>
              </a:defRPr>
            </a:pPr>
            <a:r>
              <a:t>A IA estrutura a proposta - não é um penduricalho de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D3557"/>
                </a:solidFill>
              </a:rPr>
              <a:t>Motor de IA integrado ao núcleo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 IA opera em 4 dimensões (Interpretação, Preditividade, Precificação, Conversação) como camada lógica central, não como feature isolada.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Detecção de anomalias por desvio estatístico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Identifica sessões com consumo fora do padrão (&gt;2 desvios) e alerta sobre veículos abandonados ou equipamento com falha.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Síndico Virtual com NLP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Agente conversacional que traduz dados brutos em orientações gerenciais simples. Classificação de intenções por palavras-chave.</a:t>
            </a:r>
          </a:p>
          <a:p>
            <a:pPr>
              <a:spcBef>
                <a:spcPts val="600"/>
              </a:spcBef>
            </a:pPr>
          </a:p>
          <a:p>
            <a:r>
              <a:rPr sz="2000" b="1">
                <a:solidFill>
                  <a:srgbClr val="1D3557"/>
                </a:solidFill>
              </a:rPr>
              <a:t>Previsão de demanda e expansão</a:t>
            </a:r>
          </a:p>
          <a:p>
            <a:pPr>
              <a:spcBef>
                <a:spcPts val="200"/>
              </a:spcBef>
              <a:defRPr sz="1600">
                <a:solidFill>
                  <a:srgbClr val="282828"/>
                </a:solidFill>
              </a:defRPr>
            </a:pPr>
            <a:r>
              <a:t>Média móvel + tendência para projetar consumo futuro e recomendar instalação de carregadores adicionais antes da sobrecarga.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D3557"/>
                </a:solidFill>
              </a:defRPr>
            </a:pPr>
            <a:r>
              <a:t>Entregáveis do Projeto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Arquitetura Funcional: </a:t>
            </a:r>
            <a:r>
              <a:rPr sz="1500">
                <a:solidFill>
                  <a:srgbClr val="282828"/>
                </a:solidFill>
              </a:rPr>
              <a:t>Lógica clara de entradas e saídas de dados (Data Flow). 3 camadas: Física + Conectividade + Digital.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54679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IA Integrada: </a:t>
            </a:r>
            <a:r>
              <a:rPr sz="1500">
                <a:solidFill>
                  <a:srgbClr val="282828"/>
                </a:solidFill>
              </a:rPr>
              <a:t>Motor lógico com 4 funções: interpretar, prever, precificar e conversar. Síndico Virtual NLP.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Aderência ao Contexto: </a:t>
            </a:r>
            <a:r>
              <a:rPr sz="1500">
                <a:solidFill>
                  <a:srgbClr val="282828"/>
                </a:solidFill>
              </a:rPr>
              <a:t>Solução sob medida para condomínios utilizando o ecossistema GoodWe/FIAP (HCA G2 + OCPP).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440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D3557"/>
                </a:solidFill>
              </a:rPr>
              <a:t>Visão de Produto Real: </a:t>
            </a:r>
            <a:r>
              <a:rPr sz="1500">
                <a:solidFill>
                  <a:srgbClr val="282828"/>
                </a:solidFill>
              </a:rPr>
              <a:t>Resolve problema regulatório (ANEEL) e operacional (rateio justo) existente hoje em condomínios.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EV ChargeOps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C8C8C8"/>
                </a:solidFill>
              </a:defRPr>
            </a:pPr>
            <a:r>
              <a:t>Gestão inteligente de recarga para condomínios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5720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1600">
                <a:solidFill>
                  <a:srgbClr val="B4B4B4"/>
                </a:solidFill>
              </a:defRPr>
            </a:pPr>
            <a:r>
              <a:t>FIAP + GoodWe | Challenge 2026</a:t>
            </a:r>
          </a:p>
          <a:p>
            <a:pPr algn="ctr">
              <a:defRPr sz="1400">
                <a:solidFill>
                  <a:srgbClr val="969696"/>
                </a:solidFill>
              </a:defRPr>
            </a:pPr>
            <a:r>
              <a:t>Marcelo Bastianello Baldin | RM568746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SPRINT 01</a:t>
            </a:r>
          </a:p>
          <a:p>
            <a:pPr algn="ctr">
              <a:defRPr sz="2400">
                <a:solidFill>
                  <a:srgbClr val="C8C8C8"/>
                </a:solidFill>
              </a:defRPr>
            </a:pPr>
            <a:r>
              <a:t>Pesquisa e Documentacao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114800"/>
            <a:ext cx="4572000" cy="38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B4B4B4"/>
                </a:solidFill>
              </a:defRPr>
            </a:pPr>
            <a:r>
              <a:t>"Como transformar sessoes de recarga em dados estruturados, rateio justo e inteligencia acionavel?"</a:t>
            </a:r>
          </a:p>
          <a:p>
            <a:pPr algn="ctr">
              <a:spcBef>
                <a:spcPts val="1200"/>
              </a:spcBef>
              <a:defRPr sz="1400">
                <a:solidFill>
                  <a:srgbClr val="A0A0A0"/>
                </a:solidFill>
              </a:defRPr>
            </a:pPr>
            <a:r>
              <a:t>Prazo: 21/06/2026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 Problema Central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Infraestrutura compartilhada sem inteligencia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Condominios nao tem como estruturar sessoes por unidade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8036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Sem medicao individual = sem rateio justo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749039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Sem visibilidade de dados = conflitos entre moradores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1772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Sem previsao de demanda = risco de sobrecarga na rede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058400" cy="7315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282828"/>
                </a:solidFill>
              </a:defRPr>
            </a:pPr>
            <a:r>
              <a:t>  Hardware isolado fornece kWh mas nao gera inteligencia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Pesquisa de Mercado - Brasil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Solucoes comerciais de recarga existentes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384048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Voltbras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Maior plataforma BR</a:t>
            </a:r>
            <a:br/>
            <a:r>
              <a:t>SaaS B2B, OCPP</a:t>
            </a:r>
            <a:br/>
            <a:r>
              <a:t>+10 fabricantes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103120"/>
            <a:ext cx="2560320" cy="384048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WEG WEMOB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Fabricante nacional</a:t>
            </a:r>
            <a:br/>
            <a:r>
              <a:t>7-180 kW, OCPP</a:t>
            </a:r>
            <a:br/>
            <a:r>
              <a:t>Inversores solares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560320" cy="384048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Zletric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Foco condominios</a:t>
            </a:r>
            <a:br/>
            <a:r>
              <a:t>Rateio individualizado</a:t>
            </a:r>
            <a:br/>
            <a:r>
              <a:t>Sem IA integrada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103120"/>
            <a:ext cx="2560320" cy="384048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EDP/Tupinamba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EDP Box: residencial</a:t>
            </a:r>
            <a:br/>
            <a:r>
              <a:t>+500 eletropostos</a:t>
            </a:r>
            <a:br/>
            <a:r>
              <a:t>App + pagamento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Pesquisa de Mercado - Internacional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Referencias globais em recarga de EVs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103120"/>
            <a:ext cx="2560320" cy="384048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ChargePoint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EUA | 200k+ pontos</a:t>
            </a:r>
            <a:br/>
            <a:r>
              <a:t>Maior rede aberta</a:t>
            </a:r>
            <a:br/>
            <a:r>
              <a:t>Cloud + IA + pagamento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103120"/>
            <a:ext cx="2560320" cy="384048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Wallbox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Espanha | 107 paises</a:t>
            </a:r>
            <a:br/>
            <a:r>
              <a:t>Quasar 2: V2G</a:t>
            </a:r>
            <a:br/>
            <a:r>
              <a:t>Energia solar integrada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103120"/>
            <a:ext cx="2560320" cy="38404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EVBox/Virta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EU | OCPP 2.0</a:t>
            </a:r>
            <a:br/>
            <a:r>
              <a:t>Plataforma white-label</a:t>
            </a:r>
            <a:br/>
            <a:r>
              <a:t>Roaming europeu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103120"/>
            <a:ext cx="2560320" cy="384048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Tesla</a:t>
            </a:r>
          </a:p>
          <a:p>
            <a:pPr algn="ctr">
              <a:spcBef>
                <a:spcPts val="1200"/>
              </a:spcBef>
              <a:defRPr sz="1100">
                <a:solidFill>
                  <a:srgbClr val="DCDCDC"/>
                </a:solidFill>
              </a:defRPr>
            </a:pPr>
            <a:r>
              <a:t>Global | 50k+ pontos</a:t>
            </a:r>
            <a:br/>
            <a:r>
              <a:t>NACS = SAE J3400</a:t>
            </a:r>
            <a:br/>
            <a:r>
              <a:t>72-350 kW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Diferenciais do EV ChargeOps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Por que somos diferentes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Motor de IA 4D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Unica plataforma com 4 dimensoes:</a:t>
            </a:r>
            <a:br/>
            <a:r>
              <a:t>Interpretacao + Preditividade +</a:t>
            </a:r>
            <a:br/>
            <a:r>
              <a:t>Precificacao + Conversacao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Sindico Virtual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Agente conversacional RAG</a:t>
            </a:r>
            <a:br/>
            <a:r>
              <a:t>que traduz dados tecnicos</a:t>
            </a:r>
            <a:br/>
            <a:r>
              <a:t>em linguagem gerencial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Precificacao Dinamica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Multi-fator: horario, demanda,</a:t>
            </a:r>
            <a:br/>
            <a:r>
              <a:t>bandeira ANEEL. Ate 30%</a:t>
            </a:r>
            <a:br/>
            <a:r>
              <a:t>de economia noturna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32004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GoodWe Nativo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Integracao direta com</a:t>
            </a:r>
            <a:br/>
            <a:r>
              <a:t>HCA G2 via OCPP 1.6J</a:t>
            </a:r>
            <a:br/>
            <a:r>
              <a:t>e MODBUS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Contexto Regulatorio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Regulamentacao brasileira e internacional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ANEEL RN 1.000/2021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Recarga nao regulada</a:t>
            </a:r>
            <a:br/>
            <a:r>
              <a:t>Precificacao livre</a:t>
            </a:r>
            <a:br/>
            <a:r>
              <a:t>Base legal do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Lei 14.300/2022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Geracao distribuida</a:t>
            </a:r>
            <a:br/>
            <a:r>
              <a:t>Prosumidores</a:t>
            </a:r>
            <a:br/>
            <a:r>
              <a:t>Solar + EVs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NBR IEC 61851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Seguranca de recarga</a:t>
            </a:r>
            <a:br/>
            <a:r>
              <a:t>Modos 1-4, Control Pilot</a:t>
            </a:r>
            <a:br/>
            <a:r>
              <a:t>Certificacao INMETRO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PNE 2050 (EPE)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4M EVs ate 2030</a:t>
            </a:r>
            <a:br/>
            <a:r>
              <a:t>33M ate 2050</a:t>
            </a:r>
            <a:br/>
            <a:r>
              <a:t>+24 TWh/ano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9144000" cy="11887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D3557"/>
                </a:solidFill>
              </a:rPr>
              <a:t>V2G + ISO 15118: </a:t>
            </a:r>
            <a:r>
              <a:rPr sz="1200">
                <a:solidFill>
                  <a:srgbClr val="282828"/>
                </a:solidFill>
              </a:rPr>
              <a:t>Bateria EV como armazenamento distribuido. ANEEL CP 020/2024 em analise. Roadmap EV ChargeOps.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Arquitetura Hibrida - 3 Camadas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Limites eletricos do hardware + flexibilidade logica do software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920240"/>
            <a:ext cx="91440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DIGITAL</a:t>
            </a:r>
          </a:p>
          <a:p>
            <a:pPr algn="ctr">
              <a:defRPr sz="1100">
                <a:solidFill>
                  <a:srgbClr val="DCDCDC"/>
                </a:solidFill>
              </a:defRPr>
            </a:pPr>
            <a:r>
              <a:t>Motor de Sessoes | Motor de IA (4D) | Faturamento | Integracoes |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91840"/>
            <a:ext cx="9144000" cy="11887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DE CONECTIVIDADE</a:t>
            </a:r>
          </a:p>
          <a:p>
            <a:pPr algn="ctr">
              <a:defRPr sz="1100">
                <a:solidFill>
                  <a:srgbClr val="DCDCDC"/>
                </a:solidFill>
              </a:defRPr>
            </a:pPr>
            <a:r>
              <a:t>OCPP 1.6J (WebSocket) | MODBUS RTU/TCP | Wi-Fi + LAN + RS-485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663440"/>
            <a:ext cx="9144000" cy="1188720"/>
          </a:xfrm>
          <a:prstGeom prst="round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CAMADA FISICA</a:t>
            </a:r>
          </a:p>
          <a:p>
            <a:pPr algn="ctr">
              <a:defRPr sz="1100">
                <a:solidFill>
                  <a:srgbClr val="DCDCDC"/>
                </a:solidFill>
              </a:defRPr>
            </a:pPr>
            <a:r>
              <a:t>GoodWe HCA G2: 7kW | 11kW | 22kW | RFID ISO 14443A | IP65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3154680"/>
            <a:ext cx="640080" cy="182880"/>
          </a:xfrm>
          <a:prstGeom prst="down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5760720" y="4526280"/>
            <a:ext cx="640080" cy="182880"/>
          </a:xfrm>
          <a:prstGeom prst="down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Opcao A - Estruturacao de Sessoes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Sessoes vinculadas a unidades habitacionais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2103120" cy="41148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AUTENTICACAO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Morador aproxima RFID</a:t>
            </a:r>
            <a:br/>
            <a:r>
              <a:t>Sistema valida cartao</a:t>
            </a:r>
            <a:br/>
            <a:r>
              <a:t>(Authorize via OCPP)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011680"/>
            <a:ext cx="2103120" cy="41148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INICIO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Carregador inicia entrega</a:t>
            </a:r>
            <a:br/>
            <a:r>
              <a:t>StartTransaction registrado</a:t>
            </a:r>
            <a:br/>
            <a:r>
              <a:t>Timestamp + 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011680"/>
            <a:ext cx="2103120" cy="4114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MONITORAMENTO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MeterValues periodicos</a:t>
            </a:r>
            <a:br/>
            <a:r>
              <a:t>Energia acumulada (kWh)</a:t>
            </a:r>
            <a:br/>
            <a:r>
              <a:t>Intervalo configuravel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2103120" cy="4114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FINALIZACAO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StopTransaction registrado</a:t>
            </a:r>
            <a:br/>
            <a:r>
              <a:t>Energia total + duracao</a:t>
            </a:r>
            <a:br/>
            <a:r>
              <a:t>Custo com tarifa vigente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011680"/>
            <a:ext cx="2103120" cy="4114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CONTABILIZACAO</a:t>
            </a:r>
          </a:p>
          <a:p>
            <a:pPr algn="ctr">
              <a:spcBef>
                <a:spcPts val="1000"/>
              </a:spcBef>
              <a:defRPr sz="1100">
                <a:solidFill>
                  <a:srgbClr val="DCDCDC"/>
                </a:solidFill>
              </a:defRPr>
            </a:pPr>
            <a:r>
              <a:t>Sessao vinculada a fatura</a:t>
            </a:r>
            <a:br/>
            <a:r>
              <a:t>Saldo devedor atualizado</a:t>
            </a:r>
            <a:br/>
            <a:r>
              <a:t>Rateio proporcional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Opcao B - Motor de IA: 4 Dimensoes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A IA e a camada que da sentido aos dados brutos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Interpretacao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Classificacao de sessoes</a:t>
            </a:r>
            <a:br/>
            <a:r>
              <a:t>Perfis de consumo</a:t>
            </a:r>
            <a:br/>
            <a:r>
              <a:t>Parsing OCPP/MODBUS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Preditividade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Previsao de demanda (EWMA)</a:t>
            </a:r>
            <a:br/>
            <a:r>
              <a:t>Capacity planning</a:t>
            </a:r>
            <a:br/>
            <a:r>
              <a:t>Manutencao preditiva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Precificacao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Multi-fator dinamico</a:t>
            </a:r>
            <a:br/>
            <a:r>
              <a:t>Horario x Demanda x Bandeira</a:t>
            </a:r>
            <a:br/>
            <a:r>
              <a:t>Ate 30% economia noturna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2743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Conversacao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Sindico Virtual (RAG)</a:t>
            </a:r>
            <a:br/>
            <a:r>
              <a:t>LLM + dados operacionais</a:t>
            </a:r>
            <a:br/>
            <a:r>
              <a:t>Alertas proativos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9144000" cy="11887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i="1">
                <a:solidFill>
                  <a:srgbClr val="FFFFFF"/>
                </a:solidFill>
              </a:rPr>
              <a:t>"A IA estrutura a proposta. Nao e uma feature extra; e a camada que da sentido aos dados brutos gerados pela rede."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Sindico Virtual - Pipeline RAG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Agente conversacional com dados reais do condominio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651760" cy="22860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1. DADOS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Sessoes, faturas,</a:t>
            </a:r>
            <a:br/>
            <a:r>
              <a:t>telemetria, alertas</a:t>
            </a:r>
            <a:br/>
            <a:r>
              <a:t>-&gt; Embedding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2011680"/>
            <a:ext cx="2651760" cy="22860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2. RETRIEVAL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Query semantica</a:t>
            </a:r>
            <a:br/>
            <a:r>
              <a:t>recupera contexto</a:t>
            </a:r>
            <a:br/>
            <a:r>
              <a:t>relevante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2651760" cy="228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3. AUGMENT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Contexto + prompt</a:t>
            </a:r>
            <a:br/>
            <a:r>
              <a:t>especializado em</a:t>
            </a:r>
            <a:br/>
            <a:r>
              <a:t>gestao condominial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2011680"/>
            <a:ext cx="2651760" cy="2286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4. GENERATE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LLM gera resposta</a:t>
            </a:r>
            <a:br/>
            <a:r>
              <a:t>em linguagem natural</a:t>
            </a:r>
            <a:br/>
            <a:r>
              <a:t>com dados reais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515600" cy="18288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D3557"/>
                </a:solidFill>
              </a:rPr>
              <a:t>Exemplo: </a:t>
            </a:r>
            <a:r>
              <a:rPr sz="1200">
                <a:solidFill>
                  <a:srgbClr val="282828"/>
                </a:solidFill>
              </a:rPr>
              <a:t>Sindico: "Quanto a unidade 302 gastou?"</a:t>
            </a:r>
          </a:p>
          <a:p>
            <a:pPr>
              <a:spcBef>
                <a:spcPts val="600"/>
              </a:spcBef>
              <a:defRPr sz="1100" i="1">
                <a:solidFill>
                  <a:srgbClr val="646464"/>
                </a:solidFill>
              </a:defRPr>
            </a:pPr>
            <a:r>
              <a:t>Sindico Virtual: "A unidade 302 consumiu 87,3 kWh em 12 sessoes (R$ 74,21). Consumo 15% acima da media. Sugestao: incentivar recarga noturna para economia de R$ 18,50/mes."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Opcao C - Gerenciamento e UX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Interfaces para moradores e sindicos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Dashboard Morador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Consumo acumulado (kWh, R$)</a:t>
            </a:r>
            <a:br/>
            <a:r>
              <a:t>Historico de sessoes</a:t>
            </a:r>
            <a:br/>
            <a:r>
              <a:t>Recomendacoes de IA</a:t>
            </a:r>
            <a:br/>
            <a:r>
              <a:t>Status dos carregadores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011680"/>
            <a:ext cx="502920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Painel do Sindico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Visao consolidada do condominio</a:t>
            </a:r>
            <a:br/>
            <a:r>
              <a:t>Ranking de consumo por unidade</a:t>
            </a:r>
            <a:br/>
            <a:r>
              <a:t>Sindico Virtual conversacional</a:t>
            </a:r>
            <a:br/>
            <a:r>
              <a:t>Relatorios exportaveis (PDF, CSV)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241280" cy="164592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Jornada do Morador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1. Chega na garagem  2. Aproxima RFID  3. Conecta cabo  4. Notificacao: 'Carga iniciada'  5. 'Sessao: 32,4 kWh, R$ 21,06. Economia de R$ 8,10'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Rateio e Faturamento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Consumo individual -&gt; cobranca automatica justa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Modelo de Rateio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Custo = SUM(kWh x Tarifa) por sessao</a:t>
            </a:r>
            <a:br/>
            <a:r>
              <a:t>Tarifa dinamica aplicada no momento</a:t>
            </a:r>
            <a:br/>
            <a:r>
              <a:t>Taxa de administracao: 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011680"/>
            <a:ext cx="34747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Faturamento Automatico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Fatura individual por unidade/mes</a:t>
            </a:r>
            <a:br/>
            <a:r>
              <a:t>Fatura consolidada do condominio</a:t>
            </a:r>
            <a:br/>
            <a:r>
              <a:t>Comparativo mensal de evolucao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011680"/>
            <a:ext cx="3474720" cy="22860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D3557"/>
                </a:solidFill>
              </a:rPr>
              <a:t>Integracao Cobranca</a:t>
            </a:r>
          </a:p>
          <a:p>
            <a:pPr>
              <a:spcBef>
                <a:spcPts val="600"/>
              </a:spcBef>
              <a:defRPr sz="1100">
                <a:solidFill>
                  <a:srgbClr val="282828"/>
                </a:solidFill>
              </a:defRPr>
            </a:pPr>
            <a:r>
              <a:t>Item no boleto do condominio</a:t>
            </a:r>
            <a:br/>
            <a:r>
              <a:t>CSV/API para administradoras</a:t>
            </a:r>
            <a:br/>
            <a:r>
              <a:t>Desabilitacao RFID por inadimplencia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Decisoes Tecnicas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Principais escolhas com pros, contras e decisao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2651760" cy="210312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Python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MVP + IA</a:t>
            </a:r>
            <a:br/>
            <a:r>
              <a:t>-&gt; Go/Rust prod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011680"/>
            <a:ext cx="2651760" cy="210312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OCPP 1.6J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Aberto + regulacao</a:t>
            </a:r>
            <a:br/>
            <a:r>
              <a:t>-&gt; 2.0.1 futuro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2651760" cy="210312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Tarifa Dinamica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Incentivo ANEEL</a:t>
            </a:r>
            <a:br/>
            <a:r>
              <a:t>-&gt; economia 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2011680"/>
            <a:ext cx="2651760" cy="21031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RFID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Simples, GoodWe</a:t>
            </a:r>
            <a:br/>
            <a:r>
              <a:t>-&gt; App roadmap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4480560"/>
            <a:ext cx="2651760" cy="21031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In-Memory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Zero config</a:t>
            </a:r>
            <a:br/>
            <a:r>
              <a:t>-&gt; PostgreSQL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480560"/>
            <a:ext cx="2651760" cy="210312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On-Premise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LGPD, offline</a:t>
            </a:r>
            <a:br/>
            <a:r>
              <a:t>-&gt; AWS/GCP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480560"/>
            <a:ext cx="2651760" cy="2103120"/>
          </a:xfrm>
          <a:prstGeom prst="round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IA Hibrida</a:t>
            </a:r>
          </a:p>
          <a:p>
            <a:pPr algn="ctr">
              <a:spcBef>
                <a:spcPts val="800"/>
              </a:spcBef>
              <a:defRPr sz="1200">
                <a:solidFill>
                  <a:srgbClr val="DCDCDC"/>
                </a:solidFill>
              </a:defRPr>
            </a:pPr>
            <a:r>
              <a:t>Local + API LLM</a:t>
            </a:r>
            <a:br/>
            <a:r>
              <a:t>-&gt; Sindico Virtual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Roadmap de Desenvolvimento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Do MVP ao marketplace de energia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286000"/>
            <a:ext cx="2103120" cy="3200400"/>
          </a:xfrm>
          <a:prstGeom prst="roundRect">
            <a:avLst/>
          </a:prstGeom>
          <a:solidFill>
            <a:srgbClr val="1D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Sprint 01
Jun/2026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Pesquisa e</a:t>
            </a:r>
            <a:br/>
            <a:r>
              <a:t>Documentacao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286000"/>
            <a:ext cx="2103120" cy="3200400"/>
          </a:xfrm>
          <a:prstGeom prst="round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Sprint 02
Set/2026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Prototipo</a:t>
            </a:r>
            <a:br/>
            <a:r>
              <a:t>Funcional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286000"/>
            <a:ext cx="2103120" cy="3200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v1.0
Dez/2026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MVP: RFID +</a:t>
            </a:r>
            <a:br/>
            <a:r>
              <a:t>Rateio + Faturas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286000"/>
            <a:ext cx="2103120" cy="32004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v2.0
Jun/2027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IA 4D + Sindico</a:t>
            </a:r>
            <a:br/>
            <a:r>
              <a:t>Virtual +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286000"/>
            <a:ext cx="2103120" cy="32004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v3.0
Dez/2027</a:t>
            </a:r>
          </a:p>
          <a:p>
            <a:pPr algn="ctr">
              <a:spcBef>
                <a:spcPts val="1000"/>
              </a:spcBef>
              <a:defRPr sz="1200">
                <a:solidFill>
                  <a:srgbClr val="DCDCDC"/>
                </a:solidFill>
              </a:defRPr>
            </a:pPr>
            <a:r>
              <a:t>V2G + Cloud</a:t>
            </a:r>
            <a:br/>
            <a:r>
              <a:t>Multi-condominio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57200" y="5760720"/>
            <a:ext cx="10972800" cy="365760"/>
          </a:xfrm>
          <a:prstGeom prst="rightArrow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D3557"/>
                </a:solidFill>
              </a:defRPr>
            </a:pPr>
            <a:r>
              <a:t>O Que Entregamos</a:t>
            </a:r>
          </a:p>
          <a:p>
            <a:pPr>
              <a:spcBef>
                <a:spcPts val="600"/>
              </a:spcBef>
              <a:defRPr sz="1600">
                <a:solidFill>
                  <a:srgbClr val="646464"/>
                </a:solidFill>
              </a:defRPr>
            </a:pPr>
            <a:r>
              <a:t>Sprint 01 - alinhado com os 4 criterios do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27432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Arquitetura Funcional: </a:t>
            </a:r>
            <a:r>
              <a:rPr sz="1300">
                <a:solidFill>
                  <a:srgbClr val="282828"/>
                </a:solidFill>
              </a:rPr>
              <a:t>Logica clara de entradas e saidas
(Data Flow) em 3 camadas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457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IA Integrada: </a:t>
            </a:r>
            <a:r>
              <a:rPr sz="1300">
                <a:solidFill>
                  <a:srgbClr val="282828"/>
                </a:solidFill>
              </a:rPr>
              <a:t>Motor logico de 4 dimensoes,
nao penduricalho de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Aderencia ao Contexto: </a:t>
            </a:r>
            <a:r>
              <a:rPr sz="1300">
                <a:solidFill>
                  <a:srgbClr val="282828"/>
                </a:solidFill>
              </a:rPr>
              <a:t>Solucao sob medida para
condominios com GoodWe/FIAP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577840"/>
            <a:ext cx="10515600" cy="1005840"/>
          </a:xfrm>
          <a:prstGeom prst="roundRect">
            <a:avLst/>
          </a:prstGeom>
          <a:solidFill>
            <a:srgbClr val="F5F5F5"/>
          </a:solidFill>
          <a:ln w="381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D3557"/>
                </a:solidFill>
              </a:rPr>
              <a:t>  Visao de Produto Real: </a:t>
            </a:r>
            <a:r>
              <a:rPr sz="1300">
                <a:solidFill>
                  <a:srgbClr val="282828"/>
                </a:solidFill>
              </a:rPr>
              <a:t>Para quem serve? Qual problema
regulatorio ou operacional resolve?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