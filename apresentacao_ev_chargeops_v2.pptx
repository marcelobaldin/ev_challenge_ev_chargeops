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Plataforma de Gestão Compartilhada de Recarga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B4B4B4"/>
                </a:solidFill>
              </a:defRPr>
            </a:pPr>
            <a:r>
              <a:t>Challenge FIAP + GoodWe 2026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Ciências da Computação - 1º Ano Online</a:t>
            </a:r>
          </a:p>
          <a:p>
            <a:pPr algn="ctr">
              <a:defRPr sz="1000">
                <a:solidFill>
                  <a:srgbClr val="B4B4B4"/>
                </a:solidFill>
              </a:defRPr>
            </a:pP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Crescimento de EVs em condomínios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O aumento acelerado de veículos elétricos exige regras claras, rateio justo e análise de consumo contínua.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Sem gestão = conflito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Quem paga pela energia? Como dividir o uso dos carregadores? Como evitar sobrecarga na rede elétrica?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Solução: EV ChargeOps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Transforma cada sessão de recarga em dados estruturados e inteligência acionável para gestão do condomínio.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Requisitos do Challenge (Online)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Transformar solução residencial em coletiva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Estruturação de sessões de recarga</a:t>
            </a:r>
            <a:br/>
            <a:r>
              <a:t>por usuário ou unidade habitacional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9184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Processamento de consumo individual</a:t>
            </a:r>
            <a:br/>
            <a:r>
              <a:t>para cobrança automática da 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9184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Gerenciamento inteligente com</a:t>
            </a:r>
            <a:br/>
            <a:r>
              <a:t>interface usuário + gestão condomínio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Híbrida de 3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DIGITAL</a:t>
            </a:r>
            <a:br/>
            <a:r>
              <a:t>Regras de Controle | Motor de IA |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2296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DE CONECTIVIDADE</a:t>
            </a:r>
            <a:br/>
            <a:r>
              <a:t>Rede / Internet (LAN + Wi-Fi + OCPP)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2296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FÍSICA</a:t>
            </a:r>
            <a:br/>
            <a:r>
              <a:t>EV Charger GoodWe HCA G2 | MODBUS | RFID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Os 4 Pilares do EV ChargeOps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Gestão de Uso</a:t>
            </a:r>
            <a:br/>
            <a:br/>
            <a:r>
              <a:t>Sessões por usuário/unidade</a:t>
            </a:r>
            <a:br/>
            <a:r>
              <a:t>Autenticação RFID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Gerenciamento de Recarga</a:t>
            </a:r>
            <a:br/>
            <a:br/>
            <a:r>
              <a:t>Regras compartilhadas</a:t>
            </a:r>
            <a:br/>
            <a:r>
              <a:t>Horários otimizados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Rateio e Faturamento</a:t>
            </a:r>
            <a:br/>
            <a:br/>
            <a:r>
              <a:t>Consumo individual (kWh)</a:t>
            </a:r>
            <a:br/>
            <a:r>
              <a:t>Cobrança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Visualização e Interação</a:t>
            </a:r>
            <a:br/>
            <a:br/>
            <a:r>
              <a:t>Painéis gerenciais</a:t>
            </a:r>
            <a:br/>
            <a:r>
              <a:t>Insights para moradores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Motor de IA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como infraestrutura lógica - não uma feature extra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560320" cy="2743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Interpretação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Decodificação de eventos de sessão</a:t>
            </a:r>
            <a:br/>
            <a:r>
              <a:t>em tempo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2560320" cy="27432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Preditividade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Previsão de demanda e</a:t>
            </a:r>
            <a:br/>
            <a:r>
              <a:t>necessidade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286000"/>
            <a:ext cx="2560320" cy="2743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Precificação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Tarifa dinâmica baseada</a:t>
            </a:r>
            <a:br/>
            <a:r>
              <a:t>no horário (ANEEL)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286000"/>
            <a:ext cx="2560320" cy="2743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Conversação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Síndico Virtual (NLP)</a:t>
            </a:r>
            <a:br/>
            <a:r>
              <a:t>Dados -&gt; orientações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Integrações do 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GoodWe API (Simulada)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Dados operacionais dos carregadores HCA G2.</a:t>
            </a:r>
            <a:br/>
            <a:r>
              <a:t>OCPP 1.6J: Start/Stop Transaction, MeterValues.</a:t>
            </a:r>
            <a:br/>
            <a:r>
              <a:t>JSON: {"status":"active","power":"11kW"}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Open Charge Map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Mapa público de eletropostos.</a:t>
            </a:r>
            <a:br/>
            <a:r>
              <a:t>Busca pontos próximos por GPS.</a:t>
            </a:r>
            <a:br/>
            <a:r>
              <a:t>Cruzamento infraestrutura privada x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Google Places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Localização de pontos de recarga.</a:t>
            </a:r>
            <a:br/>
            <a:r>
              <a:t>Rating, fotos, horário de funcionamento.</a:t>
            </a:r>
            <a:br/>
            <a:r>
              <a:t>Alternativas quando carregadores ocupados.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Síndico Virtual (NLP)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Agente conversacional inteligente.</a:t>
            </a:r>
            <a:br/>
            <a:r>
              <a:t>Traduz dados técnicos em linguagem simples.</a:t>
            </a:r>
            <a:br/>
            <a:r>
              <a:t>Consumo, faturas, horários, anomalias.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Precificação Dinâmica (ANEEL)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Tarifas calculadas automaticamente pelo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Fora 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22h - 17h + Fins de semana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R$ 0,85/kWh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Tarifa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Intermediária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17h-18h e 21h-22h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R$ 1,02/kWh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18h-21h (dias úteis)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R$ 1,28/kWh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Diário de Energia (kWh)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por Unidade Habitacional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Sessões por Horário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Custos por Tarifa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tar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Evolução Acumulada de Custos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Resultados da Simulação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30 dias de operação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176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Sessões de Recarga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5744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Energia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R$ 5086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Custo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82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32.6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Média/Sessão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0040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8/8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Unidades 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0040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ESTAVEL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Tendência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Base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Exploração Comercial Livre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Resolução Normativa 1.000/2021</a:t>
            </a:r>
            <a:br/>
            <a:br/>
            <a:r>
              <a:t>Recarga pública e comercial pode operar com</a:t>
            </a:r>
            <a:br/>
            <a:r>
              <a:t>preços livremente negociados. Viabiliza o</a:t>
            </a:r>
            <a:br/>
            <a:r>
              <a:t>modelo de tarifação dinâmica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Interoperabilidade Obrigatória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- Padrões Abertos</a:t>
            </a:r>
            <a:br/>
            <a:br/>
            <a:r>
              <a:t>Equipamentos de uso compartilhado devem</a:t>
            </a:r>
            <a:br/>
            <a:r>
              <a:t>usar protocolos abertos (OCPP) para</a:t>
            </a:r>
            <a:br/>
            <a:r>
              <a:t>controle remoto. Justifica a arquitetura OCPP.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Uso de IA no Contexto do Software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estrutura a proposta - não é um penduricalho de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Motor de IA integrado ao núcleo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 IA opera em 4 dimensões (Interpretação, Preditividade, Precificação, Conversação) como camada lógica central, não como feature isolada.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Detecção de anomalias por desvio estatístico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Identifica sessões com consumo fora do padrão (&gt;2 desvios) e alerta sobre veículos abandonados ou equipamento com falha.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Síndico Virtual com NLP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Agente conversacional que traduz dados brutos em orientações gerenciais simples. Classificação de intenções por palavras-chave.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Previsão de demanda e expansão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Média móvel + tendência para projetar consumo futuro e recomendar instalação de carregadores adicionais antes da sobrecarga.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Entregáveis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Arquitetura Funcional: </a:t>
            </a:r>
            <a:r>
              <a:rPr sz="1500">
                <a:solidFill>
                  <a:srgbClr val="282828"/>
                </a:solidFill>
              </a:rPr>
              <a:t>Lógica clara de entradas e saídas de dados (Data Flow). 3 camadas: Física + Conectividade + Digital.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IA Integrada: </a:t>
            </a:r>
            <a:r>
              <a:rPr sz="1500">
                <a:solidFill>
                  <a:srgbClr val="282828"/>
                </a:solidFill>
              </a:rPr>
              <a:t>Motor lógico com 4 funções: interpretar, prever, precificar e conversar. Síndico Virtual NLP.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Aderência ao Contexto: </a:t>
            </a:r>
            <a:r>
              <a:rPr sz="1500">
                <a:solidFill>
                  <a:srgbClr val="282828"/>
                </a:solidFill>
              </a:rPr>
              <a:t>Solução sob medida para condomínios utilizando o ecossistema GoodWe/FIAP (HCA G2 + OCPP).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40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Visão de Produto Real: </a:t>
            </a:r>
            <a:r>
              <a:rPr sz="1500">
                <a:solidFill>
                  <a:srgbClr val="282828"/>
                </a:solidFill>
              </a:rPr>
              <a:t>Resolve problema regulatório (ANEEL) e operacional (rateio justo) existente hoje em condomínios.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C8C8C8"/>
                </a:solidFill>
              </a:defRPr>
            </a:pPr>
            <a:r>
              <a:t>Gestão inteligente de recarga para condomínios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FIAP + GoodWe | Challenge 2026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Sprint 01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Pesquisa e Documentação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Prazo: 21/06/2026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Pesquisa de Mercado -Brasil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Soluções comerciais de recarga para condomínios e frotas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6576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Voltbras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Maior plataforma BR</a:t>
            </a:r>
            <a:br/>
            <a:r>
              <a:t>SaaS B2B, OCPP, +10 fabricantes</a:t>
            </a:r>
            <a:br/>
            <a:r>
              <a:t>Shoppings, condomínios, frotas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6576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WEG WEMOB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Fabricante nacional</a:t>
            </a:r>
            <a:br/>
            <a:r>
              <a:t>7-180 kW, OCPP nativo</a:t>
            </a:r>
            <a:br/>
            <a:r>
              <a:t>Integração inversores solares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657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Zletric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Foco em condomínios</a:t>
            </a:r>
            <a:br/>
            <a:r>
              <a:t>Rateio individualizado</a:t>
            </a:r>
            <a:br/>
            <a:r>
              <a:t>Integração administradoras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657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EDP / Tupinambá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EDP Box: residencial</a:t>
            </a:r>
            <a:br/>
            <a:r>
              <a:t>Tupinambá: +500 eletropostos</a:t>
            </a:r>
            <a:br/>
            <a:r>
              <a:t>App + pagamento digital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Pesquisa de Mercado -Internacional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Referências globais em infraestrutura de recarga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6576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ChargePoint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EUA | 200k+ pontos</a:t>
            </a:r>
            <a:br/>
            <a:r>
              <a:t>Maior rede aberta do mundo</a:t>
            </a:r>
            <a:br/>
            <a:r>
              <a:t>Cloud + analytics + pagamento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6576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Wallbox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Espanha | 107 países</a:t>
            </a:r>
            <a:br/>
            <a:r>
              <a:t>Quasar 2: V2G bidirecional</a:t>
            </a:r>
            <a:br/>
            <a:r>
              <a:t>Integração energia solar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6576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EVBox / Virta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Holanda / Finlândia</a:t>
            </a:r>
            <a:br/>
            <a:r>
              <a:t>Hardware + plataforma</a:t>
            </a:r>
            <a:br/>
            <a:r>
              <a:t>OCPP 2.0, roaming 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6576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Tesla</a:t>
            </a:r>
          </a:p>
          <a:p>
            <a:pPr algn="ctr">
              <a:spcBef>
                <a:spcPts val="1400"/>
              </a:spcBef>
              <a:defRPr sz="1200">
                <a:solidFill>
                  <a:srgbClr val="DCDCDC"/>
                </a:solidFill>
              </a:defRPr>
            </a:pPr>
            <a:r>
              <a:t>Global | 50k+ pontos</a:t>
            </a:r>
            <a:br/>
            <a:r>
              <a:t>NACS = padrão SAE J3400</a:t>
            </a:r>
            <a:br/>
            <a:r>
              <a:t>72-350 kW, Magic Dock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Contexto Regulatório -Brasil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Regulamentação do setor de energia e recarga de EVs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ANEEL RN 1.000/2021</a:t>
            </a:r>
          </a:p>
          <a:p>
            <a:pPr>
              <a:spcBef>
                <a:spcPts val="800"/>
              </a:spcBef>
              <a:defRPr sz="1100">
                <a:solidFill>
                  <a:srgbClr val="282828"/>
                </a:solidFill>
              </a:defRPr>
            </a:pPr>
            <a:r>
              <a:t>Recarga como atividade não regulada.</a:t>
            </a:r>
            <a:br/>
            <a:r>
              <a:t>Precificação livre pelo prestador.</a:t>
            </a:r>
            <a:br/>
            <a:r>
              <a:t>Base legal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Lei 14.300/2022</a:t>
            </a:r>
          </a:p>
          <a:p>
            <a:pPr>
              <a:spcBef>
                <a:spcPts val="800"/>
              </a:spcBef>
              <a:defRPr sz="1100">
                <a:solidFill>
                  <a:srgbClr val="282828"/>
                </a:solidFill>
              </a:defRPr>
            </a:pPr>
            <a:r>
              <a:t>Marco da Geração Distribuída.</a:t>
            </a:r>
            <a:br/>
            <a:r>
              <a:t>Prosumidores: gerar + consumir.</a:t>
            </a:r>
            <a:br/>
            <a:r>
              <a:t>Solar em condomínios + EVs.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NBR IEC 61851 / INMETRO</a:t>
            </a:r>
          </a:p>
          <a:p>
            <a:pPr>
              <a:spcBef>
                <a:spcPts val="800"/>
              </a:spcBef>
              <a:defRPr sz="1100">
                <a:solidFill>
                  <a:srgbClr val="282828"/>
                </a:solidFill>
              </a:defRPr>
            </a:pPr>
            <a:r>
              <a:t>Requisitos de segurança para</a:t>
            </a:r>
            <a:br/>
            <a:r>
              <a:t>sistemas de recarga condutiva.</a:t>
            </a:r>
            <a:br/>
            <a:r>
              <a:t>Certificação compulsória.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PNE 2050 (EPE)</a:t>
            </a:r>
          </a:p>
          <a:p>
            <a:pPr>
              <a:spcBef>
                <a:spcPts val="800"/>
              </a:spcBef>
              <a:defRPr sz="1100">
                <a:solidFill>
                  <a:srgbClr val="282828"/>
                </a:solidFill>
              </a:defRPr>
            </a:pPr>
            <a:r>
              <a:t>4M EVs até 2030, 33M até 2050.</a:t>
            </a:r>
            <a:br/>
            <a:r>
              <a:t>Demanda: +24 TWh/ano até 2035.</a:t>
            </a:r>
            <a:br/>
            <a:r>
              <a:t>3% do consumo elétrico nacional.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Regulação Internacional e V2G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Referências globais e perspectivas de Vehicle-to-Grid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22860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EU -AFIR 2023</a:t>
            </a:r>
            <a:br/>
            <a:br/>
            <a:r>
              <a:t>Postos a cada 60 km</a:t>
            </a:r>
            <a:br/>
            <a:r>
              <a:t>150 kW (2025), 350 kW (2030)</a:t>
            </a:r>
            <a:br/>
            <a:r>
              <a:t>Pagamento por cartão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2103120"/>
            <a:ext cx="3474720" cy="2286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EUA -NEVI</a:t>
            </a:r>
            <a:br/>
            <a:br/>
            <a:r>
              <a:t>US$ 7,5 bi investidos</a:t>
            </a:r>
            <a:br/>
            <a:r>
              <a:t>500k chargers até 2030</a:t>
            </a:r>
            <a:br/>
            <a:r>
              <a:t>OCPP + CCS obrigatório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3474720" cy="228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UK -Smart Charge</a:t>
            </a:r>
            <a:br/>
            <a:br/>
            <a:r>
              <a:t>Demand response obrigatório</a:t>
            </a:r>
            <a:br/>
            <a:r>
              <a:t>V2G habilitado</a:t>
            </a:r>
            <a:br/>
            <a:r>
              <a:t>Carga off-peak padrão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9144000" cy="16459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3557"/>
                </a:solidFill>
              </a:rPr>
              <a:t>V2G (Vehicle-to-Grid) -Perspectiva Futura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Bateria do EV como armazenamento distribuído. ANEEL CP 020/2024 em análise. Aplicações: peak shaving, reserva de emergência, arbitragem tarifária. EV ChargeOps: V2G no roadmap via ISO 15118.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Detalhada da Solução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Componentes, protocolos e fluxo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DIGITAL</a:t>
            </a:r>
          </a:p>
          <a:p>
            <a:pPr algn="ctr">
              <a:defRPr sz="1200">
                <a:solidFill>
                  <a:srgbClr val="DCDCDC"/>
                </a:solidFill>
              </a:defRPr>
            </a:pPr>
            <a:r>
              <a:t>Motor de Sessões | Motor de IA | Faturamento | Integrações |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383280"/>
            <a:ext cx="91440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DE CONECTIVIDADE</a:t>
            </a:r>
          </a:p>
          <a:p>
            <a:pPr algn="ctr">
              <a:defRPr sz="1200">
                <a:solidFill>
                  <a:srgbClr val="DCDCDC"/>
                </a:solidFill>
              </a:defRPr>
            </a:pPr>
            <a:r>
              <a:t>OCPP 1.6J (WebSocket) | MODBUS RTU/TCP | Wi-Fi + LAN + RS-485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FÍSICA</a:t>
            </a:r>
          </a:p>
          <a:p>
            <a:pPr algn="ctr">
              <a:defRPr sz="1200">
                <a:solidFill>
                  <a:srgbClr val="DCDCDC"/>
                </a:solidFill>
              </a:defRPr>
            </a:pPr>
            <a:r>
              <a:t>GoodWe HCA G2: 7kW | 11kW | 22kW | RFID ISO 14443A | IP65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324612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760720" y="461772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Hardware GoodWe HCA G2 e Protocolos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Especificações técnicas do hardware de referência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22860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GW7K-HCA-20</a:t>
            </a:r>
          </a:p>
          <a:p>
            <a:pPr algn="ctr">
              <a:spcBef>
                <a:spcPts val="1000"/>
              </a:spcBef>
              <a:defRPr sz="1400">
                <a:solidFill>
                  <a:srgbClr val="DCDCDC"/>
                </a:solidFill>
              </a:defRPr>
            </a:pPr>
            <a:r>
              <a:t>7 kW</a:t>
            </a:r>
            <a:br/>
            <a:r>
              <a:t>Monofásico</a:t>
            </a:r>
            <a:br/>
            <a:r>
              <a:t>AC Tipo 2</a:t>
            </a:r>
            <a:br/>
            <a:r>
              <a:t>Residencial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2103120"/>
            <a:ext cx="3474720" cy="2286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GW11K-HCA-20</a:t>
            </a:r>
          </a:p>
          <a:p>
            <a:pPr algn="ctr">
              <a:spcBef>
                <a:spcPts val="1000"/>
              </a:spcBef>
              <a:defRPr sz="1400">
                <a:solidFill>
                  <a:srgbClr val="DCDCDC"/>
                </a:solidFill>
              </a:defRPr>
            </a:pPr>
            <a:r>
              <a:t>11 kW</a:t>
            </a:r>
            <a:br/>
            <a:r>
              <a:t>Trifásico</a:t>
            </a:r>
            <a:br/>
            <a:r>
              <a:t>AC Tipo 2</a:t>
            </a:r>
            <a:br/>
            <a:r>
              <a:t>Condomínio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3474720" cy="228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GW22K-HCA-20</a:t>
            </a:r>
          </a:p>
          <a:p>
            <a:pPr algn="ctr">
              <a:spcBef>
                <a:spcPts val="1000"/>
              </a:spcBef>
              <a:defRPr sz="1400">
                <a:solidFill>
                  <a:srgbClr val="DCDCDC"/>
                </a:solidFill>
              </a:defRPr>
            </a:pPr>
            <a:r>
              <a:t>22 kW</a:t>
            </a:r>
            <a:br/>
            <a:r>
              <a:t>Trifásico</a:t>
            </a:r>
            <a:br/>
            <a:r>
              <a:t>AC Tipo 2</a:t>
            </a:r>
            <a:br/>
            <a:r>
              <a:t>Comercial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557"/>
                </a:solidFill>
              </a:rPr>
              <a:t>Características Comuns: </a:t>
            </a:r>
            <a:r>
              <a:rPr sz="1200">
                <a:solidFill>
                  <a:srgbClr val="282828"/>
                </a:solidFill>
              </a:rPr>
              <a:t>RFID ISO 14443A (até 10 cartões) | RS-485 + LAN + Wi-Fi + Bluetooth | IP65 (uso externo) | Proteções: RCD tipo A, OVP, UVP, OCP, OTP | Display LED | Firmware remoto via OCPP | OCPP 1.6J nativo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Decisões Técnicas (1/2)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Linguagem, protocolo e modelo de precificação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474720" cy="4114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Q1: Por que Python?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Prós: ecossistema IA, prototipagem</a:t>
            </a:r>
            <a:br/>
            <a:r>
              <a:t>Contras: performance, GIL</a:t>
            </a:r>
            <a:br/>
            <a:r>
              <a:t>Decisão: Python para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474720" cy="4114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Q2: OCPP ou proprietário?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 OCPP: aberto, interoperável</a:t>
            </a:r>
            <a:br/>
            <a:r>
              <a:t>Prós prop.: performance, features</a:t>
            </a:r>
            <a:br/>
            <a:r>
              <a:t>Decisão: OCPP 1.6J (regulação)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474720" cy="4114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Q3: Tarifa dinâmica ou fixa?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 din.: incentivo fora ponta</a:t>
            </a:r>
            <a:br/>
            <a:r>
              <a:t>Prós fixa: simplicidade</a:t>
            </a:r>
            <a:br/>
            <a:r>
              <a:t>Decisão: Dinâmica (ANEEL)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Decisões Técnicas (2/2)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Autenticação, armazenamento e infraestrutura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474720" cy="4114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Q4: RFID ou App?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 RFID: simples, sem celular</a:t>
            </a:r>
            <a:br/>
            <a:r>
              <a:t>Prós App: QR, pagamento, reserva</a:t>
            </a:r>
            <a:br/>
            <a:r>
              <a:t>Decisão: RFID + App no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474720" cy="4114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Q5: Memória ou Banco?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 memória: zero config, rápido</a:t>
            </a:r>
            <a:br/>
            <a:r>
              <a:t>Prós BD: persistência, SQL, backup</a:t>
            </a:r>
            <a:br/>
            <a:r>
              <a:t>Decisão: Memória → SQLite/PG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474720" cy="4114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Q6: On-premise ou Cloud?</a:t>
            </a:r>
          </a:p>
          <a:p>
            <a:pPr algn="ctr">
              <a:spcBef>
                <a:spcPts val="1600"/>
              </a:spcBef>
              <a:defRPr sz="1300">
                <a:solidFill>
                  <a:srgbClr val="DCDCDC"/>
                </a:solidFill>
              </a:defRPr>
            </a:pPr>
            <a:r>
              <a:t>Prós local: controle, LGPD, offline</a:t>
            </a:r>
            <a:br/>
            <a:r>
              <a:t>Prós cloud: escala, backup, acesso</a:t>
            </a:r>
            <a:br/>
            <a:r>
              <a:t>Decisão: Local → Cloud (prod)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