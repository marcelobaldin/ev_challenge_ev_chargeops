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EV ChargeOps</a:t>
            </a:r>
          </a:p>
          <a:p>
            <a:pPr algn="ctr">
              <a:defRPr sz="2400">
                <a:solidFill>
                  <a:srgbClr val="C8C8C8"/>
                </a:solidFill>
              </a:defRPr>
            </a:pPr>
            <a:r>
              <a:t>Plataforma de Gestão Compartilhada de Recarga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657600"/>
            <a:ext cx="45720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1800">
                <a:solidFill>
                  <a:srgbClr val="B4B4B4"/>
                </a:solidFill>
              </a:defRPr>
            </a:pPr>
            <a:r>
              <a:t>Challenge FIAP + GoodWe 2026</a:t>
            </a:r>
          </a:p>
          <a:p>
            <a:pPr algn="ctr">
              <a:defRPr sz="1800">
                <a:solidFill>
                  <a:srgbClr val="B4B4B4"/>
                </a:solidFill>
              </a:defRPr>
            </a:pPr>
            <a:r>
              <a:t>Ciências da Computação - 1º Ano Online</a:t>
            </a:r>
          </a:p>
          <a:p>
            <a:pPr algn="ctr">
              <a:defRPr sz="1000">
                <a:solidFill>
                  <a:srgbClr val="B4B4B4"/>
                </a:solidFill>
              </a:defRPr>
            </a:pPr>
          </a:p>
          <a:p>
            <a:pPr algn="ctr">
              <a:defRPr sz="1800">
                <a:solidFill>
                  <a:srgbClr val="B4B4B4"/>
                </a:solidFill>
              </a:defRPr>
            </a:pPr>
            <a:r>
              <a:t>Marcelo Bastianello Baldin | RM568746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O Problema Central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D3557"/>
                </a:solidFill>
              </a:rPr>
              <a:t>Crescimento de EVs em condomínios</a:t>
            </a:r>
          </a:p>
          <a:p>
            <a:pPr>
              <a:spcBef>
                <a:spcPts val="200"/>
              </a:spcBef>
              <a:defRPr sz="1600">
                <a:solidFill>
                  <a:srgbClr val="282828"/>
                </a:solidFill>
              </a:defRPr>
            </a:pPr>
            <a:r>
              <a:t>O aumento acelerado de veículos elétricos exige regras claras, rateio justo e análise de consumo contínua.</a:t>
            </a:r>
          </a:p>
          <a:p>
            <a:pPr>
              <a:spcBef>
                <a:spcPts val="600"/>
              </a:spcBef>
            </a:pPr>
          </a:p>
          <a:p>
            <a:r>
              <a:rPr sz="2000" b="1">
                <a:solidFill>
                  <a:srgbClr val="1D3557"/>
                </a:solidFill>
              </a:rPr>
              <a:t>Sem gestão = conflito</a:t>
            </a:r>
          </a:p>
          <a:p>
            <a:pPr>
              <a:spcBef>
                <a:spcPts val="200"/>
              </a:spcBef>
              <a:defRPr sz="1600">
                <a:solidFill>
                  <a:srgbClr val="282828"/>
                </a:solidFill>
              </a:defRPr>
            </a:pPr>
            <a:r>
              <a:t>Quem paga pela energia? Como dividir o uso dos carregadores? Como evitar sobrecarga na rede elétrica?</a:t>
            </a:r>
          </a:p>
          <a:p>
            <a:pPr>
              <a:spcBef>
                <a:spcPts val="600"/>
              </a:spcBef>
            </a:pPr>
          </a:p>
          <a:p>
            <a:r>
              <a:rPr sz="2000" b="1">
                <a:solidFill>
                  <a:srgbClr val="1D3557"/>
                </a:solidFill>
              </a:rPr>
              <a:t>Solução: EV ChargeOps</a:t>
            </a:r>
          </a:p>
          <a:p>
            <a:pPr>
              <a:spcBef>
                <a:spcPts val="200"/>
              </a:spcBef>
              <a:defRPr sz="1600">
                <a:solidFill>
                  <a:srgbClr val="282828"/>
                </a:solidFill>
              </a:defRPr>
            </a:pPr>
            <a:r>
              <a:t>Transforma cada sessão de recarga em dados estruturados e inteligência acionável para gestão do condomínio.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Requisitos do Challenge (Online)</a:t>
            </a:r>
          </a:p>
          <a:p>
            <a:pPr>
              <a:spcBef>
                <a:spcPts val="800"/>
              </a:spcBef>
              <a:defRPr sz="1800">
                <a:solidFill>
                  <a:srgbClr val="646464"/>
                </a:solidFill>
              </a:defRPr>
            </a:pPr>
            <a:r>
              <a:t>Transformar solução residencial em coletiva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3291840" cy="182880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1. Estruturação de sessões de recarga</a:t>
            </a:r>
            <a:br/>
            <a:r>
              <a:t>por usuário ou unidade habitacional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286000"/>
            <a:ext cx="3291840" cy="1828800"/>
          </a:xfrm>
          <a:prstGeom prst="round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2. Processamento de consumo individual</a:t>
            </a:r>
            <a:br/>
            <a:r>
              <a:t>para cobrança automática da unidade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286000"/>
            <a:ext cx="3291840" cy="18288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3. Gerenciamento inteligente com</a:t>
            </a:r>
            <a:br/>
            <a:r>
              <a:t>interface usuário + gestão condomínio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Arquitetura Híbrida de 3 Camadas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2103120"/>
            <a:ext cx="8229600" cy="118872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CAMADA DIGITAL</a:t>
            </a:r>
            <a:br/>
            <a:r>
              <a:t>Regras de Controle | Motor de IA | APIs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3474720"/>
            <a:ext cx="8229600" cy="1188720"/>
          </a:xfrm>
          <a:prstGeom prst="round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CAMADA DE CONECTIVIDADE</a:t>
            </a:r>
            <a:br/>
            <a:r>
              <a:t>Rede / Internet (LAN + Wi-Fi + OCPP)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4846320"/>
            <a:ext cx="8229600" cy="1188720"/>
          </a:xfrm>
          <a:prstGeom prst="round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CAMADA FÍSICA</a:t>
            </a:r>
            <a:br/>
            <a:r>
              <a:t>EV Charger GoodWe HCA G2 | MODBUS | RFID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Os 4 Pilares do EV ChargeOps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2560320" cy="320040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Gestão de Uso</a:t>
            </a:r>
            <a:br/>
            <a:br/>
            <a:r>
              <a:t>Sessões por usuário/unidade</a:t>
            </a:r>
            <a:br/>
            <a:r>
              <a:t>Autenticação RFID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2286000"/>
            <a:ext cx="2560320" cy="3200400"/>
          </a:xfrm>
          <a:prstGeom prst="round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Gerenciamento de Recarga</a:t>
            </a:r>
            <a:br/>
            <a:br/>
            <a:r>
              <a:t>Regras compartilhadas</a:t>
            </a:r>
            <a:br/>
            <a:r>
              <a:t>Horários otimizados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286000"/>
            <a:ext cx="2560320" cy="32004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Rateio e Faturamento</a:t>
            </a:r>
            <a:br/>
            <a:br/>
            <a:r>
              <a:t>Consumo individual (kWh)</a:t>
            </a:r>
            <a:br/>
            <a:r>
              <a:t>Cobrança automática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2286000"/>
            <a:ext cx="2560320" cy="32004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Visualização e Interação</a:t>
            </a:r>
            <a:br/>
            <a:br/>
            <a:r>
              <a:t>Painéis gerenciais</a:t>
            </a:r>
            <a:br/>
            <a:r>
              <a:t>Insights para moradores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Motor de IA</a:t>
            </a:r>
          </a:p>
          <a:p>
            <a:pPr>
              <a:spcBef>
                <a:spcPts val="800"/>
              </a:spcBef>
              <a:defRPr sz="1800">
                <a:solidFill>
                  <a:srgbClr val="646464"/>
                </a:solidFill>
              </a:defRPr>
            </a:pPr>
            <a:r>
              <a:t>A IA como infraestrutura lógica - não uma feature extra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2560320" cy="274320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Interpretação</a:t>
            </a:r>
          </a:p>
          <a:p>
            <a:pPr algn="ctr">
              <a:spcBef>
                <a:spcPts val="1200"/>
              </a:spcBef>
              <a:defRPr sz="1300">
                <a:solidFill>
                  <a:srgbClr val="DCDCDC"/>
                </a:solidFill>
              </a:defRPr>
            </a:pPr>
            <a:r>
              <a:t>Decodificação de eventos de sessão</a:t>
            </a:r>
            <a:br/>
            <a:r>
              <a:t>em tempo real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2286000"/>
            <a:ext cx="2560320" cy="2743200"/>
          </a:xfrm>
          <a:prstGeom prst="round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Preditividade</a:t>
            </a:r>
          </a:p>
          <a:p>
            <a:pPr algn="ctr">
              <a:spcBef>
                <a:spcPts val="1200"/>
              </a:spcBef>
              <a:defRPr sz="1300">
                <a:solidFill>
                  <a:srgbClr val="DCDCDC"/>
                </a:solidFill>
              </a:defRPr>
            </a:pPr>
            <a:r>
              <a:t>Previsão de demanda e</a:t>
            </a:r>
            <a:br/>
            <a:r>
              <a:t>necessidade de expansão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286000"/>
            <a:ext cx="2560320" cy="27432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Precificação</a:t>
            </a:r>
          </a:p>
          <a:p>
            <a:pPr algn="ctr">
              <a:spcBef>
                <a:spcPts val="1200"/>
              </a:spcBef>
              <a:defRPr sz="1300">
                <a:solidFill>
                  <a:srgbClr val="DCDCDC"/>
                </a:solidFill>
              </a:defRPr>
            </a:pPr>
            <a:r>
              <a:t>Tarifa dinâmica baseada</a:t>
            </a:r>
            <a:br/>
            <a:r>
              <a:t>no horário (ANEEL)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2286000"/>
            <a:ext cx="2560320" cy="27432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Conversação</a:t>
            </a:r>
          </a:p>
          <a:p>
            <a:pPr algn="ctr">
              <a:spcBef>
                <a:spcPts val="1200"/>
              </a:spcBef>
              <a:defRPr sz="1300">
                <a:solidFill>
                  <a:srgbClr val="DCDCDC"/>
                </a:solidFill>
              </a:defRPr>
            </a:pPr>
            <a:r>
              <a:t>Síndico Virtual (NLP)</a:t>
            </a:r>
            <a:br/>
            <a:r>
              <a:t>Dados -&gt; orientações simples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Integrações do Ecossistema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103120"/>
            <a:ext cx="2651760" cy="384048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D3557"/>
                </a:solidFill>
              </a:rPr>
              <a:t>GoodWe API (Simulada)</a:t>
            </a:r>
          </a:p>
          <a:p>
            <a:pPr>
              <a:spcBef>
                <a:spcPts val="1000"/>
              </a:spcBef>
              <a:defRPr sz="1200">
                <a:solidFill>
                  <a:srgbClr val="282828"/>
                </a:solidFill>
              </a:defRPr>
            </a:pPr>
            <a:r>
              <a:t>Dados operacionais dos carregadores HCA G2.</a:t>
            </a:r>
            <a:br/>
            <a:r>
              <a:t>OCPP 1.6J: Start/Stop Transaction, MeterValues.</a:t>
            </a:r>
            <a:br/>
            <a:r>
              <a:t>JSON: {"status":"active","power":"11kW"}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2103120"/>
            <a:ext cx="2651760" cy="384048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D3557"/>
                </a:solidFill>
              </a:rPr>
              <a:t>Open Charge Map API</a:t>
            </a:r>
          </a:p>
          <a:p>
            <a:pPr>
              <a:spcBef>
                <a:spcPts val="1000"/>
              </a:spcBef>
              <a:defRPr sz="1200">
                <a:solidFill>
                  <a:srgbClr val="282828"/>
                </a:solidFill>
              </a:defRPr>
            </a:pPr>
            <a:r>
              <a:t>Mapa público de eletropostos.</a:t>
            </a:r>
            <a:br/>
            <a:r>
              <a:t>Busca pontos próximos por GPS.</a:t>
            </a:r>
            <a:br/>
            <a:r>
              <a:t>Cruzamento infraestrutura privada x pública.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03120"/>
            <a:ext cx="2651760" cy="384048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D3557"/>
                </a:solidFill>
              </a:rPr>
              <a:t>Google Places API</a:t>
            </a:r>
          </a:p>
          <a:p>
            <a:pPr>
              <a:spcBef>
                <a:spcPts val="1000"/>
              </a:spcBef>
              <a:defRPr sz="1200">
                <a:solidFill>
                  <a:srgbClr val="282828"/>
                </a:solidFill>
              </a:defRPr>
            </a:pPr>
            <a:r>
              <a:t>Localização de pontos de recarga.</a:t>
            </a:r>
            <a:br/>
            <a:r>
              <a:t>Rating, fotos, horário de funcionamento.</a:t>
            </a:r>
            <a:br/>
            <a:r>
              <a:t>Alternativas quando carregadores ocupados.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98280" y="2103120"/>
            <a:ext cx="2651760" cy="384048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D3557"/>
                </a:solidFill>
              </a:rPr>
              <a:t>Síndico Virtual (NLP)</a:t>
            </a:r>
          </a:p>
          <a:p>
            <a:pPr>
              <a:spcBef>
                <a:spcPts val="1000"/>
              </a:spcBef>
              <a:defRPr sz="1200">
                <a:solidFill>
                  <a:srgbClr val="282828"/>
                </a:solidFill>
              </a:defRPr>
            </a:pPr>
            <a:r>
              <a:t>Agente conversacional inteligente.</a:t>
            </a:r>
            <a:br/>
            <a:r>
              <a:t>Traduz dados técnicos em linguagem simples.</a:t>
            </a:r>
            <a:br/>
            <a:r>
              <a:t>Consumo, faturas, horários, anomalias.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Precificação Dinâmica (ANEEL)</a:t>
            </a:r>
          </a:p>
          <a:p>
            <a:pPr>
              <a:spcBef>
                <a:spcPts val="800"/>
              </a:spcBef>
              <a:defRPr sz="1800">
                <a:solidFill>
                  <a:srgbClr val="646464"/>
                </a:solidFill>
              </a:defRPr>
            </a:pPr>
            <a:r>
              <a:t>Tarifas calculadas automaticamente pelo Motor de IA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2926080" cy="32004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</a:rPr>
              <a:t>Fora Ponta</a:t>
            </a:r>
          </a:p>
          <a:p>
            <a:pPr algn="ctr">
              <a:spcBef>
                <a:spcPts val="800"/>
              </a:spcBef>
            </a:pPr>
            <a:r>
              <a:rPr sz="1400" b="0">
                <a:solidFill>
                  <a:srgbClr val="FFFFFF"/>
                </a:solidFill>
              </a:rPr>
              <a:t>22h - 17h + Fins de semana</a:t>
            </a:r>
          </a:p>
          <a:p>
            <a:pPr algn="ctr">
              <a:spcBef>
                <a:spcPts val="800"/>
              </a:spcBef>
            </a:pPr>
            <a:r>
              <a:rPr sz="2800" b="1">
                <a:solidFill>
                  <a:srgbClr val="FFFFFF"/>
                </a:solidFill>
              </a:rPr>
              <a:t>R$ 0,85/kWh</a:t>
            </a:r>
          </a:p>
          <a:p>
            <a:pPr algn="ctr">
              <a:spcBef>
                <a:spcPts val="800"/>
              </a:spcBef>
            </a:pPr>
            <a:r>
              <a:rPr sz="1600" b="0">
                <a:solidFill>
                  <a:srgbClr val="FFFFFF"/>
                </a:solidFill>
              </a:rPr>
              <a:t>Tarifa 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286000"/>
            <a:ext cx="2926080" cy="32004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</a:rPr>
              <a:t>Intermediária</a:t>
            </a:r>
          </a:p>
          <a:p>
            <a:pPr algn="ctr">
              <a:spcBef>
                <a:spcPts val="800"/>
              </a:spcBef>
            </a:pPr>
            <a:r>
              <a:rPr sz="1400" b="0">
                <a:solidFill>
                  <a:srgbClr val="FFFFFF"/>
                </a:solidFill>
              </a:rPr>
              <a:t>17h-18h e 21h-22h</a:t>
            </a:r>
          </a:p>
          <a:p>
            <a:pPr algn="ctr">
              <a:spcBef>
                <a:spcPts val="800"/>
              </a:spcBef>
            </a:pPr>
            <a:r>
              <a:rPr sz="2800" b="1">
                <a:solidFill>
                  <a:srgbClr val="FFFFFF"/>
                </a:solidFill>
              </a:rPr>
              <a:t>R$ 1,02/kWh</a:t>
            </a:r>
          </a:p>
          <a:p>
            <a:pPr algn="ctr">
              <a:spcBef>
                <a:spcPts val="800"/>
              </a:spcBef>
            </a:pPr>
            <a:r>
              <a:rPr sz="1600" b="0">
                <a:solidFill>
                  <a:srgbClr val="FFFFFF"/>
                </a:solidFill>
              </a:rPr>
              <a:t>+20%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2286000"/>
            <a:ext cx="2926080" cy="32004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</a:rPr>
              <a:t>Ponta</a:t>
            </a:r>
          </a:p>
          <a:p>
            <a:pPr algn="ctr">
              <a:spcBef>
                <a:spcPts val="800"/>
              </a:spcBef>
            </a:pPr>
            <a:r>
              <a:rPr sz="1400" b="0">
                <a:solidFill>
                  <a:srgbClr val="FFFFFF"/>
                </a:solidFill>
              </a:rPr>
              <a:t>18h-21h (dias úteis)</a:t>
            </a:r>
          </a:p>
          <a:p>
            <a:pPr algn="ctr">
              <a:spcBef>
                <a:spcPts val="800"/>
              </a:spcBef>
            </a:pPr>
            <a:r>
              <a:rPr sz="2800" b="1">
                <a:solidFill>
                  <a:srgbClr val="FFFFFF"/>
                </a:solidFill>
              </a:rPr>
              <a:t>R$ 1,28/kWh</a:t>
            </a:r>
          </a:p>
          <a:p>
            <a:pPr algn="ctr">
              <a:spcBef>
                <a:spcPts val="800"/>
              </a:spcBef>
            </a:pPr>
            <a:r>
              <a:rPr sz="1600" b="0">
                <a:solidFill>
                  <a:srgbClr val="FFFFFF"/>
                </a:solidFill>
              </a:rPr>
              <a:t>+50%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Consumo Diário de Energia (kWh)</a:t>
            </a:r>
          </a:p>
          <a:p>
            <a:pPr>
              <a:spcBef>
                <a:spcPts val="800"/>
              </a:spcBef>
              <a:defRPr sz="1800">
                <a:solidFill>
                  <a:srgbClr val="646464"/>
                </a:solidFill>
              </a:defRPr>
            </a:pPr>
            <a:r>
              <a:t>Dados simulados - 30 dias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nsumo_di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011680"/>
            <a:ext cx="9144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Consumo por Unidade Habitacional</a:t>
            </a:r>
          </a:p>
          <a:p>
            <a:pPr>
              <a:spcBef>
                <a:spcPts val="800"/>
              </a:spcBef>
              <a:defRPr sz="1800">
                <a:solidFill>
                  <a:srgbClr val="646464"/>
                </a:solidFill>
              </a:defRPr>
            </a:pPr>
            <a:r>
              <a:t>Dados simulados - 30 dias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nsumo_por_unid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011680"/>
            <a:ext cx="9144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Distribuição de Sessões por Horário</a:t>
            </a:r>
          </a:p>
          <a:p>
            <a:pPr>
              <a:spcBef>
                <a:spcPts val="800"/>
              </a:spcBef>
              <a:defRPr sz="1800">
                <a:solidFill>
                  <a:srgbClr val="646464"/>
                </a:solidFill>
              </a:defRPr>
            </a:pPr>
            <a:r>
              <a:t>Dados simulados - 30 dias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stribuicao_hor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011680"/>
            <a:ext cx="9144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Distribuição de Custos por Tarifa</a:t>
            </a:r>
          </a:p>
          <a:p>
            <a:pPr>
              <a:spcBef>
                <a:spcPts val="800"/>
              </a:spcBef>
              <a:defRPr sz="1800">
                <a:solidFill>
                  <a:srgbClr val="646464"/>
                </a:solidFill>
              </a:defRPr>
            </a:pPr>
            <a:r>
              <a:t>Dados simulados - 30 dias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stribuicao_tarif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011680"/>
            <a:ext cx="9144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Evolução Acumulada de Custos</a:t>
            </a:r>
          </a:p>
          <a:p>
            <a:pPr>
              <a:spcBef>
                <a:spcPts val="800"/>
              </a:spcBef>
              <a:defRPr sz="1800">
                <a:solidFill>
                  <a:srgbClr val="646464"/>
                </a:solidFill>
              </a:defRPr>
            </a:pPr>
            <a:r>
              <a:t>Dados simulados - 30 dias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usto_acumul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011680"/>
            <a:ext cx="9144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Resultados da Simulação</a:t>
            </a:r>
          </a:p>
          <a:p>
            <a:pPr>
              <a:spcBef>
                <a:spcPts val="800"/>
              </a:spcBef>
              <a:defRPr sz="1800">
                <a:solidFill>
                  <a:srgbClr val="646464"/>
                </a:solidFill>
              </a:defRPr>
            </a:pPr>
            <a:r>
              <a:t>30 dias de operação simulada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3200400" cy="182880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168</a:t>
            </a:r>
          </a:p>
          <a:p>
            <a:pPr algn="ctr">
              <a:defRPr sz="1400">
                <a:solidFill>
                  <a:srgbClr val="C8C8C8"/>
                </a:solidFill>
              </a:defRPr>
            </a:pPr>
            <a:r>
              <a:t>Sessões de Recarga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286000"/>
            <a:ext cx="3200400" cy="1828800"/>
          </a:xfrm>
          <a:prstGeom prst="round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5226 kWh</a:t>
            </a:r>
          </a:p>
          <a:p>
            <a:pPr algn="ctr">
              <a:defRPr sz="1400">
                <a:solidFill>
                  <a:srgbClr val="C8C8C8"/>
                </a:solidFill>
              </a:defRPr>
            </a:pPr>
            <a:r>
              <a:t>Energia Total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286000"/>
            <a:ext cx="3200400" cy="18288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R$ 4762</a:t>
            </a:r>
          </a:p>
          <a:p>
            <a:pPr algn="ctr">
              <a:defRPr sz="1400">
                <a:solidFill>
                  <a:srgbClr val="C8C8C8"/>
                </a:solidFill>
              </a:defRPr>
            </a:pPr>
            <a:r>
              <a:t>Custo Total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3200400" cy="18288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31.1 kWh</a:t>
            </a:r>
          </a:p>
          <a:p>
            <a:pPr algn="ctr">
              <a:defRPr sz="1400">
                <a:solidFill>
                  <a:srgbClr val="C8C8C8"/>
                </a:solidFill>
              </a:defRPr>
            </a:pPr>
            <a:r>
              <a:t>Média/Sessão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572000"/>
            <a:ext cx="3200400" cy="18288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8/8</a:t>
            </a:r>
          </a:p>
          <a:p>
            <a:pPr algn="ctr">
              <a:defRPr sz="1400">
                <a:solidFill>
                  <a:srgbClr val="C8C8C8"/>
                </a:solidFill>
              </a:defRPr>
            </a:pPr>
            <a:r>
              <a:t>Unidades Ativas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4572000"/>
            <a:ext cx="3200400" cy="1828800"/>
          </a:xfrm>
          <a:prstGeom prst="round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DECRESCENTE</a:t>
            </a:r>
          </a:p>
          <a:p>
            <a:pPr algn="ctr">
              <a:defRPr sz="1400">
                <a:solidFill>
                  <a:srgbClr val="C8C8C8"/>
                </a:solidFill>
              </a:defRPr>
            </a:pPr>
            <a:r>
              <a:t>Tendência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Base Regulatória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4572000" cy="365760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D3557"/>
                </a:solidFill>
              </a:rPr>
              <a:t>Exploração Comercial Livre</a:t>
            </a:r>
          </a:p>
          <a:p>
            <a:pPr>
              <a:spcBef>
                <a:spcPts val="1000"/>
              </a:spcBef>
              <a:defRPr sz="1400">
                <a:solidFill>
                  <a:srgbClr val="282828"/>
                </a:solidFill>
              </a:defRPr>
            </a:pPr>
            <a:r>
              <a:t>ANEEL Resolução Normativa 1.000/2021</a:t>
            </a:r>
            <a:br/>
            <a:br/>
            <a:r>
              <a:t>Recarga pública e comercial pode operar com</a:t>
            </a:r>
            <a:br/>
            <a:r>
              <a:t>preços livremente negociados. Viabiliza o</a:t>
            </a:r>
            <a:br/>
            <a:r>
              <a:t>modelo de tarifação dinâmica do EV ChargeOps.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2286000"/>
            <a:ext cx="4572000" cy="365760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D3557"/>
                </a:solidFill>
              </a:rPr>
              <a:t>Interoperabilidade Obrigatória</a:t>
            </a:r>
          </a:p>
          <a:p>
            <a:pPr>
              <a:spcBef>
                <a:spcPts val="1000"/>
              </a:spcBef>
              <a:defRPr sz="1400">
                <a:solidFill>
                  <a:srgbClr val="282828"/>
                </a:solidFill>
              </a:defRPr>
            </a:pPr>
            <a:r>
              <a:t>ANEEL - Padrões Abertos</a:t>
            </a:r>
            <a:br/>
            <a:br/>
            <a:r>
              <a:t>Equipamentos de uso compartilhado devem</a:t>
            </a:r>
            <a:br/>
            <a:r>
              <a:t>usar protocolos abertos (OCPP) para</a:t>
            </a:r>
            <a:br/>
            <a:r>
              <a:t>controle remoto. Justifica a arquitetura OCPP.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Uso de IA no Contexto do Software</a:t>
            </a:r>
          </a:p>
          <a:p>
            <a:pPr>
              <a:spcBef>
                <a:spcPts val="800"/>
              </a:spcBef>
              <a:defRPr sz="1800">
                <a:solidFill>
                  <a:srgbClr val="646464"/>
                </a:solidFill>
              </a:defRPr>
            </a:pPr>
            <a:r>
              <a:t>A IA estrutura a proposta - não é um penduricalho de interface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D3557"/>
                </a:solidFill>
              </a:rPr>
              <a:t>Motor de IA integrado ao núcleo</a:t>
            </a:r>
          </a:p>
          <a:p>
            <a:pPr>
              <a:spcBef>
                <a:spcPts val="200"/>
              </a:spcBef>
              <a:defRPr sz="1600">
                <a:solidFill>
                  <a:srgbClr val="282828"/>
                </a:solidFill>
              </a:defRPr>
            </a:pPr>
            <a:r>
              <a:t>A IA opera em 4 dimensões (Interpretação, Preditividade, Precificação, Conversação) como camada lógica central, não como feature isolada.</a:t>
            </a:r>
          </a:p>
          <a:p>
            <a:pPr>
              <a:spcBef>
                <a:spcPts val="600"/>
              </a:spcBef>
            </a:pPr>
          </a:p>
          <a:p>
            <a:r>
              <a:rPr sz="2000" b="1">
                <a:solidFill>
                  <a:srgbClr val="1D3557"/>
                </a:solidFill>
              </a:rPr>
              <a:t>Detecção de anomalias por desvio estatístico</a:t>
            </a:r>
          </a:p>
          <a:p>
            <a:pPr>
              <a:spcBef>
                <a:spcPts val="200"/>
              </a:spcBef>
              <a:defRPr sz="1600">
                <a:solidFill>
                  <a:srgbClr val="282828"/>
                </a:solidFill>
              </a:defRPr>
            </a:pPr>
            <a:r>
              <a:t>Identifica sessões com consumo fora do padrão (&gt;2 desvios) e alerta sobre veículos abandonados ou equipamento com falha.</a:t>
            </a:r>
          </a:p>
          <a:p>
            <a:pPr>
              <a:spcBef>
                <a:spcPts val="600"/>
              </a:spcBef>
            </a:pPr>
          </a:p>
          <a:p>
            <a:r>
              <a:rPr sz="2000" b="1">
                <a:solidFill>
                  <a:srgbClr val="1D3557"/>
                </a:solidFill>
              </a:rPr>
              <a:t>Síndico Virtual com NLP</a:t>
            </a:r>
          </a:p>
          <a:p>
            <a:pPr>
              <a:spcBef>
                <a:spcPts val="200"/>
              </a:spcBef>
              <a:defRPr sz="1600">
                <a:solidFill>
                  <a:srgbClr val="282828"/>
                </a:solidFill>
              </a:defRPr>
            </a:pPr>
            <a:r>
              <a:t>Agente conversacional que traduz dados brutos em orientações gerenciais simples. Classificação de intenções por palavras-chave.</a:t>
            </a:r>
          </a:p>
          <a:p>
            <a:pPr>
              <a:spcBef>
                <a:spcPts val="600"/>
              </a:spcBef>
            </a:pPr>
          </a:p>
          <a:p>
            <a:r>
              <a:rPr sz="2000" b="1">
                <a:solidFill>
                  <a:srgbClr val="1D3557"/>
                </a:solidFill>
              </a:rPr>
              <a:t>Previsão de demanda e expansão</a:t>
            </a:r>
          </a:p>
          <a:p>
            <a:pPr>
              <a:spcBef>
                <a:spcPts val="200"/>
              </a:spcBef>
              <a:defRPr sz="1600">
                <a:solidFill>
                  <a:srgbClr val="282828"/>
                </a:solidFill>
              </a:defRPr>
            </a:pPr>
            <a:r>
              <a:t>Média móvel + tendência para projetar consumo futuro e recomendar instalação de carregadores adicionais antes da sobrecarga.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Entregáveis do Projeto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2103120"/>
            <a:ext cx="457200" cy="45720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79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D3557"/>
                </a:solidFill>
              </a:rPr>
              <a:t>Arquitetura Funcional: </a:t>
            </a:r>
            <a:r>
              <a:rPr sz="1500">
                <a:solidFill>
                  <a:srgbClr val="282828"/>
                </a:solidFill>
              </a:rPr>
              <a:t>Lógica clara de entradas e saídas de dados (Data Flow). 3 camadas: Física + Conectividade + Digital.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3246120"/>
            <a:ext cx="457200" cy="45720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154679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D3557"/>
                </a:solidFill>
              </a:rPr>
              <a:t>IA Integrada: </a:t>
            </a:r>
            <a:r>
              <a:rPr sz="1500">
                <a:solidFill>
                  <a:srgbClr val="282828"/>
                </a:solidFill>
              </a:rPr>
              <a:t>Motor lógico com 4 funções: interpretar, prever, precificar e conversar. Síndico Virtual NLP.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4389120"/>
            <a:ext cx="457200" cy="45720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297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D3557"/>
                </a:solidFill>
              </a:rPr>
              <a:t>Aderência ao Contexto: </a:t>
            </a:r>
            <a:r>
              <a:rPr sz="1500">
                <a:solidFill>
                  <a:srgbClr val="282828"/>
                </a:solidFill>
              </a:rPr>
              <a:t>Solução sob medida para condomínios utilizando o ecossistema GoodWe/FIAP (HCA G2 + OCPP).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5532120"/>
            <a:ext cx="457200" cy="45720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440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D3557"/>
                </a:solidFill>
              </a:rPr>
              <a:t>Visão de Produto Real: </a:t>
            </a:r>
            <a:r>
              <a:rPr sz="1500">
                <a:solidFill>
                  <a:srgbClr val="282828"/>
                </a:solidFill>
              </a:rPr>
              <a:t>Resolve problema regulatório (ANEEL) e operacional (rateio justo) existente hoje em condomínios.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EV ChargeOps</a:t>
            </a:r>
          </a:p>
          <a:p>
            <a:pPr algn="ctr">
              <a:spcBef>
                <a:spcPts val="1600"/>
              </a:spcBef>
              <a:defRPr sz="2200">
                <a:solidFill>
                  <a:srgbClr val="C8C8C8"/>
                </a:solidFill>
              </a:defRPr>
            </a:pPr>
            <a:r>
              <a:t>Gestão inteligente de recarga para condomínios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4572000"/>
            <a:ext cx="45720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1600">
                <a:solidFill>
                  <a:srgbClr val="B4B4B4"/>
                </a:solidFill>
              </a:defRPr>
            </a:pPr>
            <a:r>
              <a:t>FIAP + GoodWe | Challenge 2026</a:t>
            </a:r>
          </a:p>
          <a:p>
            <a:pPr algn="ctr">
              <a:defRPr sz="1400">
                <a:solidFill>
                  <a:srgbClr val="969696"/>
                </a:solidFill>
              </a:defRPr>
            </a:pPr>
            <a:r>
              <a:t>Marcelo Bastianello Baldin | RM568746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SPRINT 01</a:t>
            </a:r>
          </a:p>
          <a:p>
            <a:pPr algn="ctr">
              <a:defRPr sz="2400">
                <a:solidFill>
                  <a:srgbClr val="C8C8C8"/>
                </a:solidFill>
              </a:defRPr>
            </a:pPr>
            <a:r>
              <a:t>Pesquisa e Documentação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4114800"/>
            <a:ext cx="45720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i="1">
                <a:solidFill>
                  <a:srgbClr val="B4B4B4"/>
                </a:solidFill>
              </a:defRPr>
            </a:pPr>
            <a:r>
              <a:t>"Como transformar sessões de recarga em dados estruturados, rateio justo e inteligência acionável?"</a:t>
            </a:r>
          </a:p>
          <a:p>
            <a:pPr algn="ctr">
              <a:spcBef>
                <a:spcPts val="1200"/>
              </a:spcBef>
              <a:defRPr sz="1400">
                <a:solidFill>
                  <a:srgbClr val="A0A0A0"/>
                </a:solidFill>
              </a:defRPr>
            </a:pPr>
            <a:r>
              <a:t>Prazo: 21/06/2026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D3557"/>
                </a:solidFill>
              </a:defRPr>
            </a:pPr>
            <a:r>
              <a:t>O Problema Central</a:t>
            </a:r>
          </a:p>
          <a:p>
            <a:pPr>
              <a:spcBef>
                <a:spcPts val="600"/>
              </a:spcBef>
              <a:defRPr sz="1600">
                <a:solidFill>
                  <a:srgbClr val="646464"/>
                </a:solidFill>
              </a:defRPr>
            </a:pPr>
            <a:r>
              <a:t>Infraestrutura compartilhada sem inteligência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10058400" cy="7315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282828"/>
                </a:solidFill>
              </a:defRPr>
            </a:pPr>
            <a:r>
              <a:t>  Condomínios não têm como estruturar sessões por unidade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880360"/>
            <a:ext cx="10058400" cy="7315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282828"/>
                </a:solidFill>
              </a:defRPr>
            </a:pPr>
            <a:r>
              <a:t>  Sem medição individual = sem rateio justo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749039"/>
            <a:ext cx="10058400" cy="7315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282828"/>
                </a:solidFill>
              </a:defRPr>
            </a:pPr>
            <a:r>
              <a:t>  Sem visibilidade de dados = conflitos entre moradores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617720"/>
            <a:ext cx="10058400" cy="7315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282828"/>
                </a:solidFill>
              </a:defRPr>
            </a:pPr>
            <a:r>
              <a:t>  Sem previsão de demanda = risco de sobrecarga na rede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486400"/>
            <a:ext cx="10058400" cy="7315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282828"/>
                </a:solidFill>
              </a:defRPr>
            </a:pPr>
            <a:r>
              <a:t>  Hardware isolado fornece kWh mas não gera inteligência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D3557"/>
                </a:solidFill>
              </a:defRPr>
            </a:pPr>
            <a:r>
              <a:t>Pesquisa de Mercado - Brasil</a:t>
            </a:r>
          </a:p>
          <a:p>
            <a:pPr>
              <a:spcBef>
                <a:spcPts val="600"/>
              </a:spcBef>
              <a:defRPr sz="1600">
                <a:solidFill>
                  <a:srgbClr val="646464"/>
                </a:solidFill>
              </a:defRPr>
            </a:pPr>
            <a:r>
              <a:t>Soluções comerciais de recarga existentes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103120"/>
            <a:ext cx="2560320" cy="384048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Voltbras</a:t>
            </a:r>
          </a:p>
          <a:p>
            <a:pPr algn="ctr">
              <a:spcBef>
                <a:spcPts val="1200"/>
              </a:spcBef>
              <a:defRPr sz="1100">
                <a:solidFill>
                  <a:srgbClr val="DCDCDC"/>
                </a:solidFill>
              </a:defRPr>
            </a:pPr>
            <a:r>
              <a:t>Maior plataforma BR</a:t>
            </a:r>
            <a:br/>
            <a:r>
              <a:t>SaaS B2B, OCPP</a:t>
            </a:r>
            <a:br/>
            <a:r>
              <a:t>+10 fabricantes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2103120"/>
            <a:ext cx="2560320" cy="3840480"/>
          </a:xfrm>
          <a:prstGeom prst="round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WEG WEMOB</a:t>
            </a:r>
          </a:p>
          <a:p>
            <a:pPr algn="ctr">
              <a:spcBef>
                <a:spcPts val="1200"/>
              </a:spcBef>
              <a:defRPr sz="1100">
                <a:solidFill>
                  <a:srgbClr val="DCDCDC"/>
                </a:solidFill>
              </a:defRPr>
            </a:pPr>
            <a:r>
              <a:t>Fabricante nacional</a:t>
            </a:r>
            <a:br/>
            <a:r>
              <a:t>7-180 kW, OCPP</a:t>
            </a:r>
            <a:br/>
            <a:r>
              <a:t>Inversores solares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103120"/>
            <a:ext cx="2560320" cy="384048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Zletric</a:t>
            </a:r>
          </a:p>
          <a:p>
            <a:pPr algn="ctr">
              <a:spcBef>
                <a:spcPts val="1200"/>
              </a:spcBef>
              <a:defRPr sz="1100">
                <a:solidFill>
                  <a:srgbClr val="DCDCDC"/>
                </a:solidFill>
              </a:defRPr>
            </a:pPr>
            <a:r>
              <a:t>Foco condomínios</a:t>
            </a:r>
            <a:br/>
            <a:r>
              <a:t>Rateio individualizado</a:t>
            </a:r>
            <a:br/>
            <a:r>
              <a:t>Sem IA integrada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2103120"/>
            <a:ext cx="2560320" cy="384048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EDP/Tupinambá</a:t>
            </a:r>
          </a:p>
          <a:p>
            <a:pPr algn="ctr">
              <a:spcBef>
                <a:spcPts val="1200"/>
              </a:spcBef>
              <a:defRPr sz="1100">
                <a:solidFill>
                  <a:srgbClr val="DCDCDC"/>
                </a:solidFill>
              </a:defRPr>
            </a:pPr>
            <a:r>
              <a:t>EDP Box: residencial</a:t>
            </a:r>
            <a:br/>
            <a:r>
              <a:t>+500 eletropostos</a:t>
            </a:r>
            <a:br/>
            <a:r>
              <a:t>App + pagamento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D3557"/>
                </a:solidFill>
              </a:defRPr>
            </a:pPr>
            <a:r>
              <a:t>Pesquisa de Mercado - Internacional</a:t>
            </a:r>
          </a:p>
          <a:p>
            <a:pPr>
              <a:spcBef>
                <a:spcPts val="600"/>
              </a:spcBef>
              <a:defRPr sz="1600">
                <a:solidFill>
                  <a:srgbClr val="646464"/>
                </a:solidFill>
              </a:defRPr>
            </a:pPr>
            <a:r>
              <a:t>Referências globais em recarga de EVs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103120"/>
            <a:ext cx="2560320" cy="384048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ChargePoint</a:t>
            </a:r>
          </a:p>
          <a:p>
            <a:pPr algn="ctr">
              <a:spcBef>
                <a:spcPts val="1200"/>
              </a:spcBef>
              <a:defRPr sz="1100">
                <a:solidFill>
                  <a:srgbClr val="DCDCDC"/>
                </a:solidFill>
              </a:defRPr>
            </a:pPr>
            <a:r>
              <a:t>EUA | 200k+ pontos</a:t>
            </a:r>
            <a:br/>
            <a:r>
              <a:t>Maior rede aberta</a:t>
            </a:r>
            <a:br/>
            <a:r>
              <a:t>Cloud + IA + pagamento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2103120"/>
            <a:ext cx="2560320" cy="3840480"/>
          </a:xfrm>
          <a:prstGeom prst="round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Wallbox</a:t>
            </a:r>
          </a:p>
          <a:p>
            <a:pPr algn="ctr">
              <a:spcBef>
                <a:spcPts val="1200"/>
              </a:spcBef>
              <a:defRPr sz="1100">
                <a:solidFill>
                  <a:srgbClr val="DCDCDC"/>
                </a:solidFill>
              </a:defRPr>
            </a:pPr>
            <a:r>
              <a:t>Espanha | 107 países</a:t>
            </a:r>
            <a:br/>
            <a:r>
              <a:t>Quasar 2: V2G</a:t>
            </a:r>
            <a:br/>
            <a:r>
              <a:t>Energia solar integrada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103120"/>
            <a:ext cx="2560320" cy="384048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EVBox/Virta</a:t>
            </a:r>
          </a:p>
          <a:p>
            <a:pPr algn="ctr">
              <a:spcBef>
                <a:spcPts val="1200"/>
              </a:spcBef>
              <a:defRPr sz="1100">
                <a:solidFill>
                  <a:srgbClr val="DCDCDC"/>
                </a:solidFill>
              </a:defRPr>
            </a:pPr>
            <a:r>
              <a:t>EU | OCPP 2.0</a:t>
            </a:r>
            <a:br/>
            <a:r>
              <a:t>Plataforma white-label</a:t>
            </a:r>
            <a:br/>
            <a:r>
              <a:t>Roaming europeu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2103120"/>
            <a:ext cx="2560320" cy="3840480"/>
          </a:xfrm>
          <a:prstGeom prst="round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Tesla</a:t>
            </a:r>
          </a:p>
          <a:p>
            <a:pPr algn="ctr">
              <a:spcBef>
                <a:spcPts val="1200"/>
              </a:spcBef>
              <a:defRPr sz="1100">
                <a:solidFill>
                  <a:srgbClr val="DCDCDC"/>
                </a:solidFill>
              </a:defRPr>
            </a:pPr>
            <a:r>
              <a:t>Global | 50k+ pontos</a:t>
            </a:r>
            <a:br/>
            <a:r>
              <a:t>NACS = SAE J3400</a:t>
            </a:r>
            <a:br/>
            <a:r>
              <a:t>72-350 kW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D3557"/>
                </a:solidFill>
              </a:defRPr>
            </a:pPr>
            <a:r>
              <a:t>Diferenciais do EV ChargeOps</a:t>
            </a:r>
          </a:p>
          <a:p>
            <a:pPr>
              <a:spcBef>
                <a:spcPts val="600"/>
              </a:spcBef>
              <a:defRPr sz="1600">
                <a:solidFill>
                  <a:srgbClr val="646464"/>
                </a:solidFill>
              </a:defRPr>
            </a:pPr>
            <a:r>
              <a:t>Por que somos diferentes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2651760" cy="32004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D3557"/>
                </a:solidFill>
              </a:rPr>
              <a:t>Motor de IA 4D</a:t>
            </a:r>
          </a:p>
          <a:p>
            <a:pPr>
              <a:spcBef>
                <a:spcPts val="600"/>
              </a:spcBef>
              <a:defRPr sz="1100">
                <a:solidFill>
                  <a:srgbClr val="282828"/>
                </a:solidFill>
              </a:defRPr>
            </a:pPr>
            <a:r>
              <a:t>Única plataforma com 4 dimensões:</a:t>
            </a:r>
            <a:br/>
            <a:r>
              <a:t>Interpretação + Preditividade +</a:t>
            </a:r>
            <a:br/>
            <a:r>
              <a:t>Precificação + Conversação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2011680"/>
            <a:ext cx="2651760" cy="32004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457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D3557"/>
                </a:solidFill>
              </a:rPr>
              <a:t>Síndico Virtual</a:t>
            </a:r>
          </a:p>
          <a:p>
            <a:pPr>
              <a:spcBef>
                <a:spcPts val="600"/>
              </a:spcBef>
              <a:defRPr sz="1100">
                <a:solidFill>
                  <a:srgbClr val="282828"/>
                </a:solidFill>
              </a:defRPr>
            </a:pPr>
            <a:r>
              <a:t>Agente conversacional RAG</a:t>
            </a:r>
            <a:br/>
            <a:r>
              <a:t>que traduz dados técnicos</a:t>
            </a:r>
            <a:br/>
            <a:r>
              <a:t>em linguagem gerencial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2651760" cy="32004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D3557"/>
                </a:solidFill>
              </a:rPr>
              <a:t>Precificação Dinâmica</a:t>
            </a:r>
          </a:p>
          <a:p>
            <a:pPr>
              <a:spcBef>
                <a:spcPts val="600"/>
              </a:spcBef>
              <a:defRPr sz="1100">
                <a:solidFill>
                  <a:srgbClr val="282828"/>
                </a:solidFill>
              </a:defRPr>
            </a:pPr>
            <a:r>
              <a:t>Multi-fator: horário, demanda,</a:t>
            </a:r>
            <a:br/>
            <a:r>
              <a:t>bandeira ANEEL. Até 30%</a:t>
            </a:r>
            <a:br/>
            <a:r>
              <a:t>de economia noturna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98280" y="2011680"/>
            <a:ext cx="2651760" cy="32004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D3557"/>
                </a:solidFill>
              </a:rPr>
              <a:t>GoodWe Nativo</a:t>
            </a:r>
          </a:p>
          <a:p>
            <a:pPr>
              <a:spcBef>
                <a:spcPts val="600"/>
              </a:spcBef>
              <a:defRPr sz="1100">
                <a:solidFill>
                  <a:srgbClr val="282828"/>
                </a:solidFill>
              </a:defRPr>
            </a:pPr>
            <a:r>
              <a:t>Integração direta com</a:t>
            </a:r>
            <a:br/>
            <a:r>
              <a:t>HCA G2 via OCPP 1.6J</a:t>
            </a:r>
            <a:br/>
            <a:r>
              <a:t>e MODBUS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D3557"/>
                </a:solidFill>
              </a:defRPr>
            </a:pPr>
            <a:r>
              <a:t>Contexto Regulatório</a:t>
            </a:r>
          </a:p>
          <a:p>
            <a:pPr>
              <a:spcBef>
                <a:spcPts val="600"/>
              </a:spcBef>
              <a:defRPr sz="1600">
                <a:solidFill>
                  <a:srgbClr val="646464"/>
                </a:solidFill>
              </a:defRPr>
            </a:pPr>
            <a:r>
              <a:t>Regulamentação brasileira e internacional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2651760" cy="27432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D3557"/>
                </a:solidFill>
              </a:rPr>
              <a:t>ANEEL RN 1.000/2021</a:t>
            </a:r>
          </a:p>
          <a:p>
            <a:pPr>
              <a:spcBef>
                <a:spcPts val="600"/>
              </a:spcBef>
              <a:defRPr sz="1100">
                <a:solidFill>
                  <a:srgbClr val="282828"/>
                </a:solidFill>
              </a:defRPr>
            </a:pPr>
            <a:r>
              <a:t>Recarga não regulada</a:t>
            </a:r>
            <a:br/>
            <a:r>
              <a:t>Precificação livre</a:t>
            </a:r>
            <a:br/>
            <a:r>
              <a:t>Base legal do sistema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2011680"/>
            <a:ext cx="2651760" cy="27432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457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D3557"/>
                </a:solidFill>
              </a:rPr>
              <a:t>Lei 14.300/2022</a:t>
            </a:r>
          </a:p>
          <a:p>
            <a:pPr>
              <a:spcBef>
                <a:spcPts val="600"/>
              </a:spcBef>
              <a:defRPr sz="1100">
                <a:solidFill>
                  <a:srgbClr val="282828"/>
                </a:solidFill>
              </a:defRPr>
            </a:pPr>
            <a:r>
              <a:t>Geração distribuída</a:t>
            </a:r>
            <a:br/>
            <a:r>
              <a:t>Prosumidores</a:t>
            </a:r>
            <a:br/>
            <a:r>
              <a:t>Solar + EVs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2651760" cy="27432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D3557"/>
                </a:solidFill>
              </a:rPr>
              <a:t>NBR IEC 61851</a:t>
            </a:r>
          </a:p>
          <a:p>
            <a:pPr>
              <a:spcBef>
                <a:spcPts val="600"/>
              </a:spcBef>
              <a:defRPr sz="1100">
                <a:solidFill>
                  <a:srgbClr val="282828"/>
                </a:solidFill>
              </a:defRPr>
            </a:pPr>
            <a:r>
              <a:t>Segurança de recarga</a:t>
            </a:r>
            <a:br/>
            <a:r>
              <a:t>Modos 1-4, Control Pilot</a:t>
            </a:r>
            <a:br/>
            <a:r>
              <a:t>Certificação INMETRO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98280" y="2011680"/>
            <a:ext cx="2651760" cy="27432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D3557"/>
                </a:solidFill>
              </a:rPr>
              <a:t>PNE 2050 (EPE)</a:t>
            </a:r>
          </a:p>
          <a:p>
            <a:pPr>
              <a:spcBef>
                <a:spcPts val="600"/>
              </a:spcBef>
              <a:defRPr sz="1100">
                <a:solidFill>
                  <a:srgbClr val="282828"/>
                </a:solidFill>
              </a:defRPr>
            </a:pPr>
            <a:r>
              <a:t>4M EVs até 2030</a:t>
            </a:r>
            <a:br/>
            <a:r>
              <a:t>33M até 2050</a:t>
            </a:r>
            <a:br/>
            <a:r>
              <a:t>+24 TWh/ano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5029200"/>
            <a:ext cx="9144000" cy="11887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D3557"/>
                </a:solidFill>
              </a:rPr>
              <a:t>V2G + ISO 15118: </a:t>
            </a:r>
            <a:r>
              <a:rPr sz="1200">
                <a:solidFill>
                  <a:srgbClr val="282828"/>
                </a:solidFill>
              </a:rPr>
              <a:t>Bateria EV como armazenamento distribuído. ANEEL CP 020/2024 em análise. Roadmap EV ChargeOps.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D3557"/>
                </a:solidFill>
              </a:defRPr>
            </a:pPr>
            <a:r>
              <a:t>Arquitetura Híbrida - 3 Camadas</a:t>
            </a:r>
          </a:p>
          <a:p>
            <a:pPr>
              <a:spcBef>
                <a:spcPts val="600"/>
              </a:spcBef>
              <a:defRPr sz="1600">
                <a:solidFill>
                  <a:srgbClr val="646464"/>
                </a:solidFill>
              </a:defRPr>
            </a:pPr>
            <a:r>
              <a:t>Limites elétricos do hardware + flexibilidade lógica do software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920240"/>
            <a:ext cx="9144000" cy="118872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CAMADA DIGITAL</a:t>
            </a:r>
          </a:p>
          <a:p>
            <a:pPr algn="ctr">
              <a:defRPr sz="1100">
                <a:solidFill>
                  <a:srgbClr val="DCDCDC"/>
                </a:solidFill>
              </a:defRPr>
            </a:pPr>
            <a:r>
              <a:t>Motor de Sessões | Motor de IA (4D) | Faturamento | Integrações |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291840"/>
            <a:ext cx="9144000" cy="1188720"/>
          </a:xfrm>
          <a:prstGeom prst="round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CAMADA DE CONECTIVIDADE</a:t>
            </a:r>
          </a:p>
          <a:p>
            <a:pPr algn="ctr">
              <a:defRPr sz="1100">
                <a:solidFill>
                  <a:srgbClr val="DCDCDC"/>
                </a:solidFill>
              </a:defRPr>
            </a:pPr>
            <a:r>
              <a:t>OCPP 1.6J (WebSocket) | MODBUS RTU/TCP | Wi-Fi + LAN + RS-485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663440"/>
            <a:ext cx="9144000" cy="1188720"/>
          </a:xfrm>
          <a:prstGeom prst="round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CAMADA FÍSICA</a:t>
            </a:r>
          </a:p>
          <a:p>
            <a:pPr algn="ctr">
              <a:defRPr sz="1100">
                <a:solidFill>
                  <a:srgbClr val="DCDCDC"/>
                </a:solidFill>
              </a:defRPr>
            </a:pPr>
            <a:r>
              <a:t>GoodWe HCA G2: 7kW | 11kW | 22kW | RFID ISO 14443A | IP65</a:t>
            </a:r>
          </a:p>
        </p:txBody>
      </p:sp>
      <p:sp>
        <p:nvSpPr>
          <p:cNvPr id="7" name="Down Arrow 6"/>
          <p:cNvSpPr/>
          <p:nvPr/>
        </p:nvSpPr>
        <p:spPr>
          <a:xfrm>
            <a:off x="5760720" y="3154680"/>
            <a:ext cx="640080" cy="182880"/>
          </a:xfrm>
          <a:prstGeom prst="downArrow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own Arrow 7"/>
          <p:cNvSpPr/>
          <p:nvPr/>
        </p:nvSpPr>
        <p:spPr>
          <a:xfrm>
            <a:off x="5760720" y="4526280"/>
            <a:ext cx="640080" cy="182880"/>
          </a:xfrm>
          <a:prstGeom prst="downArrow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D3557"/>
                </a:solidFill>
              </a:defRPr>
            </a:pPr>
            <a:r>
              <a:t>Opção A - Estruturação de Sessões</a:t>
            </a:r>
          </a:p>
          <a:p>
            <a:pPr>
              <a:spcBef>
                <a:spcPts val="600"/>
              </a:spcBef>
              <a:defRPr sz="1600">
                <a:solidFill>
                  <a:srgbClr val="646464"/>
                </a:solidFill>
              </a:defRPr>
            </a:pPr>
            <a:r>
              <a:t>Sessões vinculadas a unidades habitacionais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2011680"/>
            <a:ext cx="2103120" cy="411480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1. AUTENTICAÇÃO</a:t>
            </a:r>
          </a:p>
          <a:p>
            <a:pPr algn="ctr">
              <a:spcBef>
                <a:spcPts val="1000"/>
              </a:spcBef>
              <a:defRPr sz="1100">
                <a:solidFill>
                  <a:srgbClr val="DCDCDC"/>
                </a:solidFill>
              </a:defRPr>
            </a:pPr>
            <a:r>
              <a:t>Morador aproxima RFID</a:t>
            </a:r>
            <a:br/>
            <a:r>
              <a:t>Sistema valida cartão</a:t>
            </a:r>
            <a:br/>
            <a:r>
              <a:t>(Authorize via OCPP)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2011680"/>
            <a:ext cx="2103120" cy="4114800"/>
          </a:xfrm>
          <a:prstGeom prst="round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2. INÍCIO</a:t>
            </a:r>
          </a:p>
          <a:p>
            <a:pPr algn="ctr">
              <a:spcBef>
                <a:spcPts val="1000"/>
              </a:spcBef>
              <a:defRPr sz="1100">
                <a:solidFill>
                  <a:srgbClr val="DCDCDC"/>
                </a:solidFill>
              </a:defRPr>
            </a:pPr>
            <a:r>
              <a:t>Carregador inicia entrega</a:t>
            </a:r>
            <a:br/>
            <a:r>
              <a:t>StartTransaction registrado</a:t>
            </a:r>
            <a:br/>
            <a:r>
              <a:t>Timestamp + IDs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2011680"/>
            <a:ext cx="2103120" cy="41148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3. MONITORAMENTO</a:t>
            </a:r>
          </a:p>
          <a:p>
            <a:pPr algn="ctr">
              <a:spcBef>
                <a:spcPts val="1000"/>
              </a:spcBef>
              <a:defRPr sz="1100">
                <a:solidFill>
                  <a:srgbClr val="DCDCDC"/>
                </a:solidFill>
              </a:defRPr>
            </a:pPr>
            <a:r>
              <a:t>MeterValues periódicos</a:t>
            </a:r>
            <a:br/>
            <a:r>
              <a:t>Energia acumulada (kWh)</a:t>
            </a:r>
            <a:br/>
            <a:r>
              <a:t>Intervalo configurável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2011680"/>
            <a:ext cx="2103120" cy="41148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4. FINALIZAÇÃO</a:t>
            </a:r>
          </a:p>
          <a:p>
            <a:pPr algn="ctr">
              <a:spcBef>
                <a:spcPts val="1000"/>
              </a:spcBef>
              <a:defRPr sz="1100">
                <a:solidFill>
                  <a:srgbClr val="DCDCDC"/>
                </a:solidFill>
              </a:defRPr>
            </a:pPr>
            <a:r>
              <a:t>StopTransaction registrado</a:t>
            </a:r>
            <a:br/>
            <a:r>
              <a:t>Energia total + duração</a:t>
            </a:r>
            <a:br/>
            <a:r>
              <a:t>Custo com tarifa vigente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0" y="2011680"/>
            <a:ext cx="2103120" cy="41148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5. CONTABILIZAÇÃO</a:t>
            </a:r>
          </a:p>
          <a:p>
            <a:pPr algn="ctr">
              <a:spcBef>
                <a:spcPts val="1000"/>
              </a:spcBef>
              <a:defRPr sz="1100">
                <a:solidFill>
                  <a:srgbClr val="DCDCDC"/>
                </a:solidFill>
              </a:defRPr>
            </a:pPr>
            <a:r>
              <a:t>Sessão vinculada à fatura</a:t>
            </a:r>
            <a:br/>
            <a:r>
              <a:t>Saldo devedor atualizado</a:t>
            </a:r>
            <a:br/>
            <a:r>
              <a:t>Rateio proporcional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D3557"/>
                </a:solidFill>
              </a:defRPr>
            </a:pPr>
            <a:r>
              <a:t>Opção B - Motor de IA: 4 Dimensões</a:t>
            </a:r>
          </a:p>
          <a:p>
            <a:pPr>
              <a:spcBef>
                <a:spcPts val="600"/>
              </a:spcBef>
              <a:defRPr sz="1600">
                <a:solidFill>
                  <a:srgbClr val="646464"/>
                </a:solidFill>
              </a:defRPr>
            </a:pPr>
            <a:r>
              <a:t>A IA é a camada que dá sentido aos dados brutos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2651760" cy="27432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D3557"/>
                </a:solidFill>
              </a:rPr>
              <a:t>Interpretação</a:t>
            </a:r>
          </a:p>
          <a:p>
            <a:pPr>
              <a:spcBef>
                <a:spcPts val="600"/>
              </a:spcBef>
              <a:defRPr sz="1100">
                <a:solidFill>
                  <a:srgbClr val="282828"/>
                </a:solidFill>
              </a:defRPr>
            </a:pPr>
            <a:r>
              <a:t>Classificação de sessões</a:t>
            </a:r>
            <a:br/>
            <a:r>
              <a:t>Perfis de consumo</a:t>
            </a:r>
            <a:br/>
            <a:r>
              <a:t>Parsing OCPP/MODBUS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2011680"/>
            <a:ext cx="2651760" cy="27432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457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D3557"/>
                </a:solidFill>
              </a:rPr>
              <a:t>Preditividade</a:t>
            </a:r>
          </a:p>
          <a:p>
            <a:pPr>
              <a:spcBef>
                <a:spcPts val="600"/>
              </a:spcBef>
              <a:defRPr sz="1100">
                <a:solidFill>
                  <a:srgbClr val="282828"/>
                </a:solidFill>
              </a:defRPr>
            </a:pPr>
            <a:r>
              <a:t>Previsão de demanda (EWMA)</a:t>
            </a:r>
            <a:br/>
            <a:r>
              <a:t>Capacity planning</a:t>
            </a:r>
            <a:br/>
            <a:r>
              <a:t>Manutenção preditiva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2651760" cy="27432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D3557"/>
                </a:solidFill>
              </a:rPr>
              <a:t>Precificação</a:t>
            </a:r>
          </a:p>
          <a:p>
            <a:pPr>
              <a:spcBef>
                <a:spcPts val="600"/>
              </a:spcBef>
              <a:defRPr sz="1100">
                <a:solidFill>
                  <a:srgbClr val="282828"/>
                </a:solidFill>
              </a:defRPr>
            </a:pPr>
            <a:r>
              <a:t>Multi-fator dinâmico</a:t>
            </a:r>
            <a:br/>
            <a:r>
              <a:t>Horário x Demanda x Bandeira</a:t>
            </a:r>
            <a:br/>
            <a:r>
              <a:t>Até 30% economia noturna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98280" y="2011680"/>
            <a:ext cx="2651760" cy="27432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D3557"/>
                </a:solidFill>
              </a:rPr>
              <a:t>Conversação</a:t>
            </a:r>
          </a:p>
          <a:p>
            <a:pPr>
              <a:spcBef>
                <a:spcPts val="600"/>
              </a:spcBef>
              <a:defRPr sz="1100">
                <a:solidFill>
                  <a:srgbClr val="282828"/>
                </a:solidFill>
              </a:defRPr>
            </a:pPr>
            <a:r>
              <a:t>Síndico Virtual (RAG)</a:t>
            </a:r>
            <a:br/>
            <a:r>
              <a:t>LLM + dados operacionais</a:t>
            </a:r>
            <a:br/>
            <a:r>
              <a:t>Alertas proativos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5029200"/>
            <a:ext cx="9144000" cy="118872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>
                <a:solidFill>
                  <a:srgbClr val="FFFFFF"/>
                </a:solidFill>
              </a:rPr>
              <a:t>"A IA estrutura a proposta. Não é uma feature extra; é a camada que dá sentido aos dados brutos."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D3557"/>
                </a:solidFill>
              </a:defRPr>
            </a:pPr>
            <a:r>
              <a:t>Síndico Virtual - Pipeline RAG</a:t>
            </a:r>
          </a:p>
          <a:p>
            <a:pPr>
              <a:spcBef>
                <a:spcPts val="600"/>
              </a:spcBef>
              <a:defRPr sz="1600">
                <a:solidFill>
                  <a:srgbClr val="646464"/>
                </a:solidFill>
              </a:defRPr>
            </a:pPr>
            <a:r>
              <a:t>Agente conversacional com dados reais do condomínio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2651760" cy="228600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1. DADOS</a:t>
            </a:r>
          </a:p>
          <a:p>
            <a:pPr algn="ctr">
              <a:spcBef>
                <a:spcPts val="800"/>
              </a:spcBef>
              <a:defRPr sz="1200">
                <a:solidFill>
                  <a:srgbClr val="DCDCDC"/>
                </a:solidFill>
              </a:defRPr>
            </a:pPr>
            <a:r>
              <a:t>Sessões, faturas,</a:t>
            </a:r>
            <a:br/>
            <a:r>
              <a:t>telemetria, alertas</a:t>
            </a:r>
            <a:br/>
            <a:r>
              <a:t>-&gt; Embedding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2011680"/>
            <a:ext cx="2651760" cy="2286000"/>
          </a:xfrm>
          <a:prstGeom prst="round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2. RETRIEVAL</a:t>
            </a:r>
          </a:p>
          <a:p>
            <a:pPr algn="ctr">
              <a:spcBef>
                <a:spcPts val="800"/>
              </a:spcBef>
              <a:defRPr sz="1200">
                <a:solidFill>
                  <a:srgbClr val="DCDCDC"/>
                </a:solidFill>
              </a:defRPr>
            </a:pPr>
            <a:r>
              <a:t>Query semântica</a:t>
            </a:r>
            <a:br/>
            <a:r>
              <a:t>recupera contexto</a:t>
            </a:r>
            <a:br/>
            <a:r>
              <a:t>relevante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2651760" cy="22860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3. AUGMENT</a:t>
            </a:r>
          </a:p>
          <a:p>
            <a:pPr algn="ctr">
              <a:spcBef>
                <a:spcPts val="800"/>
              </a:spcBef>
              <a:defRPr sz="1200">
                <a:solidFill>
                  <a:srgbClr val="DCDCDC"/>
                </a:solidFill>
              </a:defRPr>
            </a:pPr>
            <a:r>
              <a:t>Contexto + prompt</a:t>
            </a:r>
            <a:br/>
            <a:r>
              <a:t>especializado em</a:t>
            </a:r>
            <a:br/>
            <a:r>
              <a:t>gestão condominial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98280" y="2011680"/>
            <a:ext cx="2651760" cy="22860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4. GENERATE</a:t>
            </a:r>
          </a:p>
          <a:p>
            <a:pPr algn="ctr">
              <a:spcBef>
                <a:spcPts val="800"/>
              </a:spcBef>
              <a:defRPr sz="1200">
                <a:solidFill>
                  <a:srgbClr val="DCDCDC"/>
                </a:solidFill>
              </a:defRPr>
            </a:pPr>
            <a:r>
              <a:t>LLM gera resposta</a:t>
            </a:r>
            <a:br/>
            <a:r>
              <a:t>em linguagem natural</a:t>
            </a:r>
            <a:br/>
            <a:r>
              <a:t>com dados reais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10515600" cy="1828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D3557"/>
                </a:solidFill>
              </a:rPr>
              <a:t>Exemplo: </a:t>
            </a:r>
            <a:r>
              <a:rPr sz="1200">
                <a:solidFill>
                  <a:srgbClr val="282828"/>
                </a:solidFill>
              </a:rPr>
              <a:t>Síndico: "Quanto a unidade 302 gastou?"</a:t>
            </a:r>
          </a:p>
          <a:p>
            <a:pPr>
              <a:spcBef>
                <a:spcPts val="600"/>
              </a:spcBef>
              <a:defRPr sz="1100" i="1">
                <a:solidFill>
                  <a:srgbClr val="646464"/>
                </a:solidFill>
              </a:defRPr>
            </a:pPr>
            <a:r>
              <a:t>Síndico Virtual: "A unidade 302 consumiu 87,3 kWh em 12 sessões (R$ 74,21). Consumo 15% acima da média. Sugestão: recarga noturna para economia de R$ 18,50/mês."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D3557"/>
                </a:solidFill>
              </a:defRPr>
            </a:pPr>
            <a:r>
              <a:t>Opção C - Gerenciamento e UX</a:t>
            </a:r>
          </a:p>
          <a:p>
            <a:pPr>
              <a:spcBef>
                <a:spcPts val="600"/>
              </a:spcBef>
              <a:defRPr sz="1600">
                <a:solidFill>
                  <a:srgbClr val="646464"/>
                </a:solidFill>
              </a:defRPr>
            </a:pPr>
            <a:r>
              <a:t>Interfaces para moradores e síndicos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029200" cy="22860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457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D3557"/>
                </a:solidFill>
              </a:rPr>
              <a:t>Dashboard Morador</a:t>
            </a:r>
          </a:p>
          <a:p>
            <a:pPr>
              <a:spcBef>
                <a:spcPts val="600"/>
              </a:spcBef>
              <a:defRPr sz="1100">
                <a:solidFill>
                  <a:srgbClr val="282828"/>
                </a:solidFill>
              </a:defRPr>
            </a:pPr>
            <a:r>
              <a:t>Consumo acumulado (kWh, R$)</a:t>
            </a:r>
            <a:br/>
            <a:r>
              <a:t>Histórico de sessões</a:t>
            </a:r>
            <a:br/>
            <a:r>
              <a:t>Recomendações de IA</a:t>
            </a:r>
            <a:br/>
            <a:r>
              <a:t>Status dos carregadores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2011680"/>
            <a:ext cx="5029200" cy="22860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D3557"/>
                </a:solidFill>
              </a:rPr>
              <a:t>Painel do Síndico</a:t>
            </a:r>
          </a:p>
          <a:p>
            <a:pPr>
              <a:spcBef>
                <a:spcPts val="600"/>
              </a:spcBef>
              <a:defRPr sz="1100">
                <a:solidFill>
                  <a:srgbClr val="282828"/>
                </a:solidFill>
              </a:defRPr>
            </a:pPr>
            <a:r>
              <a:t>Visão consolidada do condomínio</a:t>
            </a:r>
            <a:br/>
            <a:r>
              <a:t>Ranking de consumo por unidade</a:t>
            </a:r>
            <a:br/>
            <a:r>
              <a:t>Síndico Virtual conversacional</a:t>
            </a:r>
            <a:br/>
            <a:r>
              <a:t>Relatórios exportáveis (PDF, CSV)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0"/>
            <a:ext cx="10241280" cy="16459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D3557"/>
                </a:solidFill>
              </a:rPr>
              <a:t>Jornada do Morador</a:t>
            </a:r>
          </a:p>
          <a:p>
            <a:pPr>
              <a:spcBef>
                <a:spcPts val="600"/>
              </a:spcBef>
              <a:defRPr sz="1100">
                <a:solidFill>
                  <a:srgbClr val="282828"/>
                </a:solidFill>
              </a:defRPr>
            </a:pPr>
            <a:r>
              <a:t>1. Chega na garagem  2. Aproxima RFID  3. Conecta cabo  4. Notificação: 'Carga iniciada'  5. 'Sessão: 32,4 kWh, R$ 21,06. Economia de R$ 8,10'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D3557"/>
                </a:solidFill>
              </a:defRPr>
            </a:pPr>
            <a:r>
              <a:t>Rateio e Faturamento</a:t>
            </a:r>
          </a:p>
          <a:p>
            <a:pPr>
              <a:spcBef>
                <a:spcPts val="600"/>
              </a:spcBef>
              <a:defRPr sz="1600">
                <a:solidFill>
                  <a:srgbClr val="646464"/>
                </a:solidFill>
              </a:defRPr>
            </a:pPr>
            <a:r>
              <a:t>Consumo individual -&gt; cobrança automática justa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3474720" cy="22860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D3557"/>
                </a:solidFill>
              </a:rPr>
              <a:t>Modelo de Rateio</a:t>
            </a:r>
          </a:p>
          <a:p>
            <a:pPr>
              <a:spcBef>
                <a:spcPts val="600"/>
              </a:spcBef>
              <a:defRPr sz="1100">
                <a:solidFill>
                  <a:srgbClr val="282828"/>
                </a:solidFill>
              </a:defRPr>
            </a:pPr>
            <a:r>
              <a:t>Custo = SUM(kWh x Tarifa) por sessão</a:t>
            </a:r>
            <a:br/>
            <a:r>
              <a:t>Tarifa dinâmica aplicada no momento</a:t>
            </a:r>
            <a:br/>
            <a:r>
              <a:t>Taxa de administração: 5%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011680"/>
            <a:ext cx="3474720" cy="22860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457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D3557"/>
                </a:solidFill>
              </a:rPr>
              <a:t>Faturamento Automático</a:t>
            </a:r>
          </a:p>
          <a:p>
            <a:pPr>
              <a:spcBef>
                <a:spcPts val="600"/>
              </a:spcBef>
              <a:defRPr sz="1100">
                <a:solidFill>
                  <a:srgbClr val="282828"/>
                </a:solidFill>
              </a:defRPr>
            </a:pPr>
            <a:r>
              <a:t>Fatura individual por unidade/mês</a:t>
            </a:r>
            <a:br/>
            <a:r>
              <a:t>Fatura consolidada do condomínio</a:t>
            </a:r>
            <a:br/>
            <a:r>
              <a:t>Comparativo mensal de evolução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2011680"/>
            <a:ext cx="3474720" cy="22860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D3557"/>
                </a:solidFill>
              </a:rPr>
              <a:t>Integração Cobrança</a:t>
            </a:r>
          </a:p>
          <a:p>
            <a:pPr>
              <a:spcBef>
                <a:spcPts val="600"/>
              </a:spcBef>
              <a:defRPr sz="1100">
                <a:solidFill>
                  <a:srgbClr val="282828"/>
                </a:solidFill>
              </a:defRPr>
            </a:pPr>
            <a:r>
              <a:t>Item no boleto do condomínio</a:t>
            </a:r>
            <a:br/>
            <a:r>
              <a:t>CSV/API para administradoras</a:t>
            </a:r>
            <a:br/>
            <a:r>
              <a:t>Desabilitação RFID por inadimplência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D3557"/>
                </a:solidFill>
              </a:defRPr>
            </a:pPr>
            <a:r>
              <a:t>Decisões Técnicas</a:t>
            </a:r>
          </a:p>
          <a:p>
            <a:pPr>
              <a:spcBef>
                <a:spcPts val="600"/>
              </a:spcBef>
              <a:defRPr sz="1600">
                <a:solidFill>
                  <a:srgbClr val="646464"/>
                </a:solidFill>
              </a:defRPr>
            </a:pPr>
            <a:r>
              <a:t>Principais escolhas com prós, contras e decisão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2011680"/>
            <a:ext cx="2651760" cy="210312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Python</a:t>
            </a:r>
          </a:p>
          <a:p>
            <a:pPr algn="ctr">
              <a:spcBef>
                <a:spcPts val="800"/>
              </a:spcBef>
              <a:defRPr sz="1200">
                <a:solidFill>
                  <a:srgbClr val="DCDCDC"/>
                </a:solidFill>
              </a:defRPr>
            </a:pPr>
            <a:r>
              <a:t>MVP + IA</a:t>
            </a:r>
            <a:br/>
            <a:r>
              <a:t>-&gt; Go/Rust prod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2011680"/>
            <a:ext cx="2651760" cy="2103120"/>
          </a:xfrm>
          <a:prstGeom prst="round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OCPP 1.6J</a:t>
            </a:r>
          </a:p>
          <a:p>
            <a:pPr algn="ctr">
              <a:spcBef>
                <a:spcPts val="800"/>
              </a:spcBef>
              <a:defRPr sz="1200">
                <a:solidFill>
                  <a:srgbClr val="DCDCDC"/>
                </a:solidFill>
              </a:defRPr>
            </a:pPr>
            <a:r>
              <a:t>Aberto + regulação</a:t>
            </a:r>
            <a:br/>
            <a:r>
              <a:t>-&gt; 2.0.1 futuro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011680"/>
            <a:ext cx="2651760" cy="210312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Tarifa Dinâmica</a:t>
            </a:r>
          </a:p>
          <a:p>
            <a:pPr algn="ctr">
              <a:spcBef>
                <a:spcPts val="800"/>
              </a:spcBef>
              <a:defRPr sz="1200">
                <a:solidFill>
                  <a:srgbClr val="DCDCDC"/>
                </a:solidFill>
              </a:defRPr>
            </a:pPr>
            <a:r>
              <a:t>Incentivo ANEEL</a:t>
            </a:r>
            <a:br/>
            <a:r>
              <a:t>-&gt; economia 30%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2011680"/>
            <a:ext cx="2651760" cy="210312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RFID</a:t>
            </a:r>
          </a:p>
          <a:p>
            <a:pPr algn="ctr">
              <a:spcBef>
                <a:spcPts val="800"/>
              </a:spcBef>
              <a:defRPr sz="1200">
                <a:solidFill>
                  <a:srgbClr val="DCDCDC"/>
                </a:solidFill>
              </a:defRPr>
            </a:pPr>
            <a:r>
              <a:t>Simples, GoodWe</a:t>
            </a:r>
            <a:br/>
            <a:r>
              <a:t>-&gt; App roadmap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4480560"/>
            <a:ext cx="2651760" cy="210312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In-Memory</a:t>
            </a:r>
          </a:p>
          <a:p>
            <a:pPr algn="ctr">
              <a:spcBef>
                <a:spcPts val="800"/>
              </a:spcBef>
              <a:defRPr sz="1200">
                <a:solidFill>
                  <a:srgbClr val="DCDCDC"/>
                </a:solidFill>
              </a:defRPr>
            </a:pPr>
            <a:r>
              <a:t>Zero config</a:t>
            </a:r>
            <a:br/>
            <a:r>
              <a:t>-&gt; PostgreSQL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4480560"/>
            <a:ext cx="2651760" cy="2103120"/>
          </a:xfrm>
          <a:prstGeom prst="round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On-Premise</a:t>
            </a:r>
          </a:p>
          <a:p>
            <a:pPr algn="ctr">
              <a:spcBef>
                <a:spcPts val="800"/>
              </a:spcBef>
              <a:defRPr sz="1200">
                <a:solidFill>
                  <a:srgbClr val="DCDCDC"/>
                </a:solidFill>
              </a:defRPr>
            </a:pPr>
            <a:r>
              <a:t>LGPD, offline</a:t>
            </a:r>
            <a:br/>
            <a:r>
              <a:t>-&gt; AWS/GCP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480560"/>
            <a:ext cx="2651760" cy="2103120"/>
          </a:xfrm>
          <a:prstGeom prst="round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IA Híbrida</a:t>
            </a:r>
          </a:p>
          <a:p>
            <a:pPr algn="ctr">
              <a:spcBef>
                <a:spcPts val="800"/>
              </a:spcBef>
              <a:defRPr sz="1200">
                <a:solidFill>
                  <a:srgbClr val="DCDCDC"/>
                </a:solidFill>
              </a:defRPr>
            </a:pPr>
            <a:r>
              <a:t>Local + API LLM</a:t>
            </a:r>
            <a:br/>
            <a:r>
              <a:t>-&gt; Síndico Virtual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D3557"/>
                </a:solidFill>
              </a:defRPr>
            </a:pPr>
            <a:r>
              <a:t>Roadmap de Desenvolvimento</a:t>
            </a:r>
          </a:p>
          <a:p>
            <a:pPr>
              <a:spcBef>
                <a:spcPts val="600"/>
              </a:spcBef>
              <a:defRPr sz="1600">
                <a:solidFill>
                  <a:srgbClr val="646464"/>
                </a:solidFill>
              </a:defRPr>
            </a:pPr>
            <a:r>
              <a:t>Do MVP ao marketplace de energia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2286000"/>
            <a:ext cx="2103120" cy="320040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Sprint 01
Jun/2026</a:t>
            </a:r>
          </a:p>
          <a:p>
            <a:pPr algn="ctr">
              <a:spcBef>
                <a:spcPts val="1000"/>
              </a:spcBef>
              <a:defRPr sz="1200">
                <a:solidFill>
                  <a:srgbClr val="DCDCDC"/>
                </a:solidFill>
              </a:defRPr>
            </a:pPr>
            <a:r>
              <a:t>Pesquisa e</a:t>
            </a:r>
            <a:br/>
            <a:r>
              <a:t>Documentação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2286000"/>
            <a:ext cx="2103120" cy="3200400"/>
          </a:xfrm>
          <a:prstGeom prst="round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Sprint 02
Set/2026</a:t>
            </a:r>
          </a:p>
          <a:p>
            <a:pPr algn="ctr">
              <a:spcBef>
                <a:spcPts val="1000"/>
              </a:spcBef>
              <a:defRPr sz="1200">
                <a:solidFill>
                  <a:srgbClr val="DCDCDC"/>
                </a:solidFill>
              </a:defRPr>
            </a:pPr>
            <a:r>
              <a:t>Protótipo</a:t>
            </a:r>
            <a:br/>
            <a:r>
              <a:t>Funcional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2286000"/>
            <a:ext cx="2103120" cy="32004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v1.0
Dez/2026</a:t>
            </a:r>
          </a:p>
          <a:p>
            <a:pPr algn="ctr">
              <a:spcBef>
                <a:spcPts val="1000"/>
              </a:spcBef>
              <a:defRPr sz="1200">
                <a:solidFill>
                  <a:srgbClr val="DCDCDC"/>
                </a:solidFill>
              </a:defRPr>
            </a:pPr>
            <a:r>
              <a:t>MVP: RFID +</a:t>
            </a:r>
            <a:br/>
            <a:r>
              <a:t>Rateio + Faturas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2286000"/>
            <a:ext cx="2103120" cy="32004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v2.0
Jun/2027</a:t>
            </a:r>
          </a:p>
          <a:p>
            <a:pPr algn="ctr">
              <a:spcBef>
                <a:spcPts val="1000"/>
              </a:spcBef>
              <a:defRPr sz="1200">
                <a:solidFill>
                  <a:srgbClr val="DCDCDC"/>
                </a:solidFill>
              </a:defRPr>
            </a:pPr>
            <a:r>
              <a:t>IA 4D + Síndico</a:t>
            </a:r>
            <a:br/>
            <a:r>
              <a:t>Virtual + 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0" y="2286000"/>
            <a:ext cx="2103120" cy="3200400"/>
          </a:xfrm>
          <a:prstGeom prst="round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v3.0
Dez/2027</a:t>
            </a:r>
          </a:p>
          <a:p>
            <a:pPr algn="ctr">
              <a:spcBef>
                <a:spcPts val="1000"/>
              </a:spcBef>
              <a:defRPr sz="1200">
                <a:solidFill>
                  <a:srgbClr val="DCDCDC"/>
                </a:solidFill>
              </a:defRPr>
            </a:pPr>
            <a:r>
              <a:t>V2G + Cloud</a:t>
            </a:r>
            <a:br/>
            <a:r>
              <a:t>Multi-condomínio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57200" y="5760720"/>
            <a:ext cx="10972800" cy="365760"/>
          </a:xfrm>
          <a:prstGeom prst="rightArrow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D3557"/>
                </a:solidFill>
              </a:defRPr>
            </a:pPr>
            <a:r>
              <a:t>O Que Entregamos</a:t>
            </a:r>
          </a:p>
          <a:p>
            <a:pPr>
              <a:spcBef>
                <a:spcPts val="600"/>
              </a:spcBef>
              <a:defRPr sz="1600">
                <a:solidFill>
                  <a:srgbClr val="646464"/>
                </a:solidFill>
              </a:defRPr>
            </a:pPr>
            <a:r>
              <a:t>Sprint 01 - alinhado com os 4 critérios do Challenge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515600" cy="100584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D3557"/>
                </a:solidFill>
              </a:rPr>
              <a:t>  Arquitetura Funcional: </a:t>
            </a:r>
            <a:r>
              <a:rPr sz="1300">
                <a:solidFill>
                  <a:srgbClr val="282828"/>
                </a:solidFill>
              </a:rPr>
              <a:t>Lógica clara de entradas e saídas (Data Flow) em 3 camadas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10515600" cy="100584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457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D3557"/>
                </a:solidFill>
              </a:rPr>
              <a:t>  IA Integrada: </a:t>
            </a:r>
            <a:r>
              <a:rPr sz="1300">
                <a:solidFill>
                  <a:srgbClr val="282828"/>
                </a:solidFill>
              </a:rPr>
              <a:t>Motor lógico de 4 dimensões, não penduricalho de interface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389120"/>
            <a:ext cx="10515600" cy="100584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D3557"/>
                </a:solidFill>
              </a:rPr>
              <a:t>  Aderência ao Contexto: </a:t>
            </a:r>
            <a:r>
              <a:rPr sz="1300">
                <a:solidFill>
                  <a:srgbClr val="282828"/>
                </a:solidFill>
              </a:rPr>
              <a:t>Solução sob medida para condomínios com GoodWe/FIAP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577840"/>
            <a:ext cx="10515600" cy="100584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D3557"/>
                </a:solidFill>
              </a:rPr>
              <a:t>  Visão de Produto Real: </a:t>
            </a:r>
            <a:r>
              <a:rPr sz="1300">
                <a:solidFill>
                  <a:srgbClr val="282828"/>
                </a:solidFill>
              </a:rPr>
              <a:t>Para quem serve? Qual problema regulatório ou operacional resolve?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